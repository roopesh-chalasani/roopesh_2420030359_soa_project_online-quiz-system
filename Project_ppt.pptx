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59" r:id="rId9"/>
    <p:sldId id="260" r:id="rId10"/>
    <p:sldId id="9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49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27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27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27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27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184666"/>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523762682"/>
              </p:ext>
            </p:extLst>
          </p:nvPr>
        </p:nvGraphicFramePr>
        <p:xfrm>
          <a:off x="8193271" y="4898509"/>
          <a:ext cx="3702050" cy="8229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Roopesh-2420030359</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kern="1200" dirty="0">
                          <a:solidFill>
                            <a:schemeClr val="dk1"/>
                          </a:solidFill>
                          <a:latin typeface="Times New Roman" panose="02020603050405020304" pitchFamily="18" charset="0"/>
                          <a:ea typeface="Cambria"/>
                          <a:cs typeface="Times New Roman" panose="02020603050405020304" pitchFamily="18" charset="0"/>
                        </a:rPr>
                        <a:t>Rohan-2420030240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35759691"/>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Dr.Navyatha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Project Title</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36680" y="1241830"/>
            <a:ext cx="6545216" cy="3817469"/>
            <a:chOff x="2140155" y="1721293"/>
            <a:chExt cx="6545216" cy="3817469"/>
          </a:xfrm>
        </p:grpSpPr>
        <p:sp>
          <p:nvSpPr>
            <p:cNvPr id="16" name="TextBox 15">
              <a:extLst>
                <a:ext uri="{FF2B5EF4-FFF2-40B4-BE49-F238E27FC236}">
                  <a16:creationId xmlns:a16="http://schemas.microsoft.com/office/drawing/2014/main" id="{C0A4CA55-824E-91B2-D5F9-032778D4B8B3}"/>
                </a:ext>
              </a:extLst>
            </p:cNvPr>
            <p:cNvSpPr txBox="1"/>
            <p:nvPr/>
          </p:nvSpPr>
          <p:spPr>
            <a:xfrm>
              <a:off x="2253060" y="2629888"/>
              <a:ext cx="4267376" cy="40011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lvl="0" indent="-342900" defTabSz="457200">
                <a:buSzPts val="2520"/>
                <a:buFont typeface="Arial" panose="020B0604020202020204" pitchFamily="34" charset="0"/>
                <a:buChar char="•"/>
                <a:tabLst>
                  <a:tab pos="444500" algn="l"/>
                </a:tabLst>
                <a:defRPr/>
              </a:pPr>
              <a:r>
                <a:rPr lang="en-IN" sz="2000" dirty="0">
                  <a:solidFill>
                    <a:schemeClr val="bg1"/>
                  </a:solidFill>
                </a:rPr>
                <a:t>Problem Statement</a:t>
              </a:r>
              <a:endParaRPr kumimoji="0" lang="en-US" sz="2000" b="1" i="0" u="none" strike="noStrike" kern="1200" cap="none" spc="0" normalizeH="0" baseline="0" noProof="0" dirty="0">
                <a:ln>
                  <a:noFill/>
                </a:ln>
                <a:solidFill>
                  <a:schemeClr val="bg1"/>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474623" y="3020489"/>
              <a:ext cx="4374693" cy="36933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lvl="0" indent="-342900" defTabSz="457200">
                <a:buSzPts val="2520"/>
                <a:buFont typeface="Arial" panose="020B0604020202020204" pitchFamily="34" charset="0"/>
                <a:buChar char="•"/>
                <a:tabLst>
                  <a:tab pos="444500" algn="l"/>
                </a:tabLst>
                <a:defRPr/>
              </a:pPr>
              <a:r>
                <a:rPr lang="en-IN" dirty="0">
                  <a:solidFill>
                    <a:schemeClr val="bg1"/>
                  </a:solidFill>
                </a:rPr>
                <a:t>Objectives</a:t>
              </a:r>
              <a:endParaRPr kumimoji="0" lang="en-US" sz="1800" b="1" i="0" u="none" strike="noStrike" kern="1200" cap="none" spc="0" normalizeH="0" baseline="0" noProof="0" dirty="0">
                <a:ln>
                  <a:noFill/>
                </a:ln>
                <a:solidFill>
                  <a:schemeClr val="bg1"/>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2928302" y="3875648"/>
              <a:ext cx="4529560" cy="36933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lvl="0" indent="-342900" defTabSz="457200">
                <a:spcBef>
                  <a:spcPts val="504"/>
                </a:spcBef>
                <a:buSzPts val="2520"/>
                <a:buFont typeface="Arial" panose="020B0604020202020204" pitchFamily="34" charset="0"/>
                <a:buChar char="•"/>
                <a:tabLst>
                  <a:tab pos="444500" algn="l"/>
                </a:tabLst>
                <a:defRPr/>
              </a:pPr>
              <a:r>
                <a:rPr lang="en-IN" dirty="0">
                  <a:solidFill>
                    <a:schemeClr val="bg1"/>
                  </a:solidFill>
                </a:rPr>
                <a:t>Problem Gap Identification</a:t>
              </a:r>
              <a:endParaRPr kumimoji="0" lang="en-US" sz="1800" b="1" i="0" u="none" strike="noStrike" kern="1200" cap="none" spc="0" normalizeH="0" baseline="0" noProof="0" dirty="0">
                <a:ln>
                  <a:noFill/>
                </a:ln>
                <a:solidFill>
                  <a:schemeClr val="bg1"/>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224747" y="4225368"/>
              <a:ext cx="4774676" cy="67710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lvl="0" indent="-342900" defTabSz="457200">
                <a:spcBef>
                  <a:spcPts val="504"/>
                </a:spcBef>
                <a:buSzPts val="2520"/>
                <a:buFont typeface="Arial" panose="020B0604020202020204" pitchFamily="34" charset="0"/>
                <a:buChar char="•"/>
                <a:tabLst>
                  <a:tab pos="444500" algn="l"/>
                </a:tabLst>
                <a:defRPr/>
              </a:pPr>
              <a:r>
                <a:rPr lang="en-IN" sz="2000" dirty="0">
                  <a:solidFill>
                    <a:schemeClr val="bg1"/>
                  </a:solidFill>
                </a:rPr>
                <a:t>Innovation, Creativity &amp; Novelty</a:t>
              </a:r>
              <a:br>
                <a:rPr kumimoji="0" lang="en-US" sz="1800" b="1" i="0" u="none" strike="noStrike" kern="1200" cap="none" spc="0" normalizeH="0" baseline="0" noProof="0" dirty="0">
                  <a:ln>
                    <a:noFill/>
                  </a:ln>
                  <a:solidFill>
                    <a:schemeClr val="bg1"/>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schemeClr val="bg1"/>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408279" y="4865265"/>
              <a:ext cx="4891526" cy="36933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lvl="0" indent="-342900" defTabSz="457200">
                <a:spcBef>
                  <a:spcPts val="504"/>
                </a:spcBef>
                <a:buSzPts val="2520"/>
                <a:buFont typeface="Arial" panose="020B0604020202020204" pitchFamily="34" charset="0"/>
                <a:buChar char="•"/>
                <a:tabLst>
                  <a:tab pos="444500" algn="l"/>
                </a:tabLst>
                <a:defRPr/>
              </a:pPr>
              <a:r>
                <a:rPr lang="en-IN" dirty="0">
                  <a:solidFill>
                    <a:schemeClr val="bg1"/>
                  </a:solidFill>
                </a:rPr>
                <a:t>Feasibility &amp; Project Plan</a:t>
              </a:r>
              <a:endParaRPr kumimoji="0" lang="en-US" sz="100" b="1" i="0" u="none" strike="noStrike" kern="1200" cap="none" spc="0" normalizeH="0" baseline="0" noProof="0" dirty="0">
                <a:ln>
                  <a:noFill/>
                </a:ln>
                <a:solidFill>
                  <a:schemeClr val="bg1"/>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140155" y="1964321"/>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758099" y="3384947"/>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BB2575E6-DD65-5734-D021-73904A0AAEA2}"/>
              </a:ext>
            </a:extLst>
          </p:cNvPr>
          <p:cNvSpPr txBox="1"/>
          <p:nvPr/>
        </p:nvSpPr>
        <p:spPr>
          <a:xfrm>
            <a:off x="1253067" y="1845735"/>
            <a:ext cx="9956800" cy="1477328"/>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Existing online quiz platforms often face challenges in managing users, quizzes, questions, and results efficiently. Monolithic implementations can tightly couple these functionalities, making the system harder to maintain, scale, and modify independently. There is a need for a secure and scalable online quiz system that provides efficient quiz management, user authentication, automated result processing, and reliable communication between services.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1F0B6C8-E6E7-1FAC-FD0A-5A371FE9D785}"/>
              </a:ext>
            </a:extLst>
          </p:cNvPr>
          <p:cNvSpPr txBox="1"/>
          <p:nvPr/>
        </p:nvSpPr>
        <p:spPr>
          <a:xfrm>
            <a:off x="1481667" y="1422400"/>
            <a:ext cx="7662333" cy="2585323"/>
          </a:xfrm>
          <a:prstGeom prst="rect">
            <a:avLst/>
          </a:prstGeom>
          <a:noFill/>
        </p:spPr>
        <p:txBody>
          <a:bodyPr wrap="square">
            <a:spAutoFit/>
          </a:bodyPr>
          <a:lstStyle/>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secure online platform for conducting quizzes.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a:t>
            </a:r>
            <a:r>
              <a:rPr lang="en-IN" b="1" dirty="0">
                <a:latin typeface="Times New Roman" panose="02020603050405020304" pitchFamily="18" charset="0"/>
                <a:cs typeface="Times New Roman" panose="02020603050405020304" pitchFamily="18" charset="0"/>
              </a:rPr>
              <a:t>JWT-based authentication and role-based authorization</a:t>
            </a:r>
            <a:r>
              <a:rPr lang="en-IN"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Manage users, quizzes, questions, and results efficiently.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independent services using </a:t>
            </a:r>
            <a:r>
              <a:rPr lang="en-IN" b="1" dirty="0">
                <a:latin typeface="Times New Roman" panose="02020603050405020304" pitchFamily="18" charset="0"/>
                <a:cs typeface="Times New Roman" panose="02020603050405020304" pitchFamily="18" charset="0"/>
              </a:rPr>
              <a:t>Spring Boot and Spring Cloud</a:t>
            </a:r>
            <a:r>
              <a:rPr lang="en-IN"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a:t>
            </a:r>
            <a:r>
              <a:rPr lang="en-IN" b="1" dirty="0">
                <a:latin typeface="Times New Roman" panose="02020603050405020304" pitchFamily="18" charset="0"/>
                <a:cs typeface="Times New Roman" panose="02020603050405020304" pitchFamily="18" charset="0"/>
              </a:rPr>
              <a:t>Eureka Server</a:t>
            </a:r>
            <a:r>
              <a:rPr lang="en-IN" dirty="0">
                <a:latin typeface="Times New Roman" panose="02020603050405020304" pitchFamily="18" charset="0"/>
                <a:cs typeface="Times New Roman" panose="02020603050405020304" pitchFamily="18" charset="0"/>
              </a:rPr>
              <a:t> for service discovery.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a:t>
            </a:r>
            <a:r>
              <a:rPr lang="en-IN" b="1" dirty="0">
                <a:latin typeface="Times New Roman" panose="02020603050405020304" pitchFamily="18" charset="0"/>
                <a:cs typeface="Times New Roman" panose="02020603050405020304" pitchFamily="18" charset="0"/>
              </a:rPr>
              <a:t>Spring Cloud Gateway</a:t>
            </a:r>
            <a:r>
              <a:rPr lang="en-IN" dirty="0">
                <a:latin typeface="Times New Roman" panose="02020603050405020304" pitchFamily="18" charset="0"/>
                <a:cs typeface="Times New Roman" panose="02020603050405020304" pitchFamily="18" charset="0"/>
              </a:rPr>
              <a:t> for API routing.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a:t>
            </a:r>
            <a:r>
              <a:rPr lang="en-IN" b="1" dirty="0">
                <a:latin typeface="Times New Roman" panose="02020603050405020304" pitchFamily="18" charset="0"/>
                <a:cs typeface="Times New Roman" panose="02020603050405020304" pitchFamily="18" charset="0"/>
              </a:rPr>
              <a:t>database-per-service</a:t>
            </a:r>
            <a:r>
              <a:rPr lang="en-IN" dirty="0">
                <a:latin typeface="Times New Roman" panose="02020603050405020304" pitchFamily="18" charset="0"/>
                <a:cs typeface="Times New Roman" panose="02020603050405020304" pitchFamily="18" charset="0"/>
              </a:rPr>
              <a:t> architecture.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Test REST APIs using </a:t>
            </a:r>
            <a:r>
              <a:rPr lang="en-IN" b="1" dirty="0">
                <a:latin typeface="Times New Roman" panose="02020603050405020304" pitchFamily="18" charset="0"/>
                <a:cs typeface="Times New Roman" panose="02020603050405020304" pitchFamily="18" charset="0"/>
              </a:rPr>
              <a:t>Postman</a:t>
            </a:r>
            <a:r>
              <a:rPr lang="en-IN"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CI/CD and security analysis.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815962872"/>
              </p:ext>
            </p:extLst>
          </p:nvPr>
        </p:nvGraphicFramePr>
        <p:xfrm>
          <a:off x="274646" y="689466"/>
          <a:ext cx="11642705" cy="535615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t>D. A. Bauer, B. Penz, J. </a:t>
                      </a:r>
                      <a:r>
                        <a:rPr lang="en-IN" sz="1400" dirty="0" err="1"/>
                        <a:t>Mäkiö</a:t>
                      </a:r>
                      <a:r>
                        <a:rPr lang="en-IN" sz="1400" dirty="0"/>
                        <a:t>, M. Assaad</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i="1" dirty="0"/>
                        <a:t>Improvement of an Existing Microservices Architecture for an E-learning Platform in STEM Education</a:t>
                      </a:r>
                      <a:r>
                        <a:rPr lang="en-IN" sz="1400" dirty="0"/>
                        <a:t>, AICT 2018</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Microservices-based architecture</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Domain-specific microservices</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Different data-access patterns</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Proposed AWS migration</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IN" sz="1400" dirty="0"/>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Microservices improve modularity and maintainability of e-learning platforms.</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Separating domain-specific functionality makes development easier.</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Architecture supports independent handling of different platform components.</a:t>
                      </a:r>
                    </a:p>
                  </a:txBody>
                  <a:tcPr/>
                </a:tc>
                <a:tc>
                  <a:txBody>
                    <a:bodyPr/>
                    <a:lstStyle/>
                    <a:p>
                      <a:pPr marL="285750" indent="-285750" algn="l" defTabSz="914400" rtl="0" eaLnBrk="1" latinLnBrk="0" hangingPunct="1">
                        <a:buFont typeface="Arial" panose="020B0604020202020204" pitchFamily="34" charset="0"/>
                        <a:buChar char="•"/>
                      </a:pPr>
                      <a:r>
                        <a:rPr lang="en-IN" sz="1400" dirty="0"/>
                        <a:t>Focuses on an e-learning platform rather than a dedicated quiz system.</a:t>
                      </a:r>
                    </a:p>
                    <a:p>
                      <a:pPr marL="285750" indent="-285750" algn="l" defTabSz="914400" rtl="0" eaLnBrk="1" latinLnBrk="0" hangingPunct="1">
                        <a:buFont typeface="Arial" panose="020B0604020202020204" pitchFamily="34" charset="0"/>
                        <a:buChar char="•"/>
                      </a:pPr>
                      <a:r>
                        <a:rPr lang="en-IN" sz="1400" dirty="0"/>
                        <a:t>Further work can improve cloud deployment and service integration.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t>Dwi Ely Kurniawan, </a:t>
                      </a:r>
                      <a:r>
                        <a:rPr lang="en-IN" sz="1400" dirty="0" err="1"/>
                        <a:t>Afdhol</a:t>
                      </a:r>
                      <a:r>
                        <a:rPr lang="en-IN" sz="1400" dirty="0"/>
                        <a:t> </a:t>
                      </a:r>
                      <a:r>
                        <a:rPr lang="en-IN" sz="1400" dirty="0" err="1"/>
                        <a:t>Dzikri</a:t>
                      </a:r>
                      <a:endParaRPr lang="en-IN" sz="1400" dirty="0"/>
                    </a:p>
                    <a:p>
                      <a:pPr marL="0" algn="l" defTabSz="914400" rtl="0" eaLnBrk="1" latinLnBrk="0" hangingPunct="1"/>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i="1" dirty="0"/>
                        <a:t>Development of a Prototype for Microservices Architecture and API Gateway Integration in an eLearning Platform</a:t>
                      </a:r>
                      <a:r>
                        <a:rPr lang="en-IN" sz="1400" dirty="0"/>
                        <a:t>, ICAE 2023/2024</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Microservices architecture</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API Gateway</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Data modelling</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Software development</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API Gateway simplifies communication between services.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Microservices improve platform flexibility and scalability.</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Prototype focuses on general e-learning rather than quiz-specific services.</a:t>
                      </a:r>
                    </a:p>
                    <a:p>
                      <a:pPr marL="285750" indent="-285750" algn="l" defTabSz="914400" rtl="0" eaLnBrk="1" latinLnBrk="0" hangingPunct="1">
                        <a:buFont typeface="Arial" panose="020B0604020202020204" pitchFamily="34" charset="0"/>
                        <a:buChar char="•"/>
                      </a:pPr>
                      <a:r>
                        <a:rPr lang="en-IN" sz="1400" dirty="0"/>
                        <a:t>Further improvements can address larger-scale deployment and additional services.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t>Ana Milovanović</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i="1" dirty="0"/>
                        <a:t>Microservice Architecture in E-Learning</a:t>
                      </a:r>
                      <a:r>
                        <a:rPr lang="en-IN" sz="1400" dirty="0"/>
                        <a:t>, E-Business Technologies Conference, 2021</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Microservice architecture</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Domain-Driven Design</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Integration with existing LMS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Cloud Data Platform</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Microservices can be effectively applied to e-learning systems.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DDD helps identify suitable independent services.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Integration with existing LMS platforms is possible.</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Further research is needed for integration of custom microservices with existing LMS platforms such as Moodle</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3E588C13-459D-9094-A1A5-4B82715D9306}"/>
              </a:ext>
            </a:extLst>
          </p:cNvPr>
          <p:cNvSpPr txBox="1"/>
          <p:nvPr/>
        </p:nvSpPr>
        <p:spPr>
          <a:xfrm>
            <a:off x="2658533" y="1625600"/>
            <a:ext cx="6485467" cy="2862322"/>
          </a:xfrm>
          <a:prstGeom prst="rect">
            <a:avLst/>
          </a:prstGeom>
          <a:noFill/>
        </p:spPr>
        <p:txBody>
          <a:bodyPr wrap="square">
            <a:spAutoFit/>
          </a:bodyPr>
          <a:lstStyle/>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online assessment systems primarily focus on examination functionality rather than modular service architecture.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Many systems combine multiple functionalities into tightly coupled applications.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Limited focus is given to independently scalable services for users, quizzes, questions, and results.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Security, service discovery, API routing, testing, and CI/CD are often not integrated into a single educational assessment platform.</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FD6E4958-DEC7-4201-B2A0-96ACF5B9823F}"/>
              </a:ext>
            </a:extLst>
          </p:cNvPr>
          <p:cNvSpPr txBox="1"/>
          <p:nvPr/>
        </p:nvSpPr>
        <p:spPr>
          <a:xfrm>
            <a:off x="2379133" y="1710267"/>
            <a:ext cx="6764867" cy="2308324"/>
          </a:xfrm>
          <a:prstGeom prst="rect">
            <a:avLst/>
          </a:prstGeom>
          <a:noFill/>
        </p:spPr>
        <p:txBody>
          <a:bodyPr wrap="square">
            <a:spAutoFit/>
          </a:bodyPr>
          <a:lstStyle/>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Microservices-based architecture for an online quiz platform.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Independent </a:t>
            </a:r>
            <a:r>
              <a:rPr lang="en-IN" b="1" dirty="0">
                <a:latin typeface="Times New Roman" panose="02020603050405020304" pitchFamily="18" charset="0"/>
                <a:cs typeface="Times New Roman" panose="02020603050405020304" pitchFamily="18" charset="0"/>
              </a:rPr>
              <a:t>User, Quiz, Question, and Result Services</a:t>
            </a:r>
            <a:r>
              <a:rPr lang="en-IN"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JWT-based authentication and role-based authorization.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Eureka-based service discovery.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Spring Cloud Gateway for centralized API routing.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Database-per-service approach.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Automated testing and CI/CD integration. </a:t>
            </a:r>
          </a:p>
          <a:p>
            <a:pPr marL="342900" lvl="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Security analysis using </a:t>
            </a:r>
            <a:r>
              <a:rPr lang="en-IN" dirty="0" err="1">
                <a:latin typeface="Times New Roman" panose="02020603050405020304" pitchFamily="18" charset="0"/>
                <a:cs typeface="Times New Roman" panose="02020603050405020304" pitchFamily="18" charset="0"/>
              </a:rPr>
              <a:t>Semgrep</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6CB9FCE6-0B38-A435-EA28-0F06BA5B56F7}"/>
              </a:ext>
            </a:extLst>
          </p:cNvPr>
          <p:cNvSpPr txBox="1"/>
          <p:nvPr/>
        </p:nvSpPr>
        <p:spPr>
          <a:xfrm>
            <a:off x="1490133" y="1363133"/>
            <a:ext cx="7653867" cy="2862322"/>
          </a:xfrm>
          <a:prstGeom prst="rect">
            <a:avLst/>
          </a:prstGeom>
          <a:noFill/>
        </p:spPr>
        <p:txBody>
          <a:bodyPr wrap="square">
            <a:spAutoFit/>
          </a:bodyPr>
          <a:lstStyle/>
          <a:p>
            <a:pPr>
              <a:buNone/>
            </a:pPr>
            <a:r>
              <a:rPr lang="en-IN" b="1" dirty="0"/>
              <a:t>Technical Feasibility</a:t>
            </a:r>
          </a:p>
          <a:p>
            <a:pPr marL="342900" lvl="0" indent="-342900">
              <a:buFont typeface="Arial" panose="020B0604020202020204" pitchFamily="34" charset="0"/>
              <a:buChar char="•"/>
            </a:pPr>
            <a:r>
              <a:rPr lang="en-IN" b="1" dirty="0"/>
              <a:t>Backend:</a:t>
            </a:r>
            <a:r>
              <a:rPr lang="en-IN" dirty="0"/>
              <a:t> Spring Boot, Spring Cloud </a:t>
            </a:r>
          </a:p>
          <a:p>
            <a:pPr marL="342900" lvl="0" indent="-342900">
              <a:buFont typeface="Arial" panose="020B0604020202020204" pitchFamily="34" charset="0"/>
              <a:buChar char="•"/>
            </a:pPr>
            <a:r>
              <a:rPr lang="en-IN" b="1" dirty="0"/>
              <a:t>Architecture:</a:t>
            </a:r>
            <a:r>
              <a:rPr lang="en-IN" dirty="0"/>
              <a:t> Microservices </a:t>
            </a:r>
          </a:p>
          <a:p>
            <a:pPr marL="342900" lvl="0" indent="-342900">
              <a:buFont typeface="Arial" panose="020B0604020202020204" pitchFamily="34" charset="0"/>
              <a:buChar char="•"/>
            </a:pPr>
            <a:r>
              <a:rPr lang="en-IN" b="1" dirty="0"/>
              <a:t>Service Discovery:</a:t>
            </a:r>
            <a:r>
              <a:rPr lang="en-IN" dirty="0"/>
              <a:t> Eureka Server </a:t>
            </a:r>
          </a:p>
          <a:p>
            <a:pPr marL="342900" lvl="0" indent="-342900">
              <a:buFont typeface="Arial" panose="020B0604020202020204" pitchFamily="34" charset="0"/>
              <a:buChar char="•"/>
            </a:pPr>
            <a:r>
              <a:rPr lang="en-IN" b="1" dirty="0"/>
              <a:t>API Routing:</a:t>
            </a:r>
            <a:r>
              <a:rPr lang="en-IN" dirty="0"/>
              <a:t> Spring Cloud Gateway </a:t>
            </a:r>
          </a:p>
          <a:p>
            <a:pPr marL="342900" lvl="0" indent="-342900">
              <a:buFont typeface="Arial" panose="020B0604020202020204" pitchFamily="34" charset="0"/>
              <a:buChar char="•"/>
            </a:pPr>
            <a:r>
              <a:rPr lang="en-IN" b="1" dirty="0"/>
              <a:t>Database:</a:t>
            </a:r>
            <a:r>
              <a:rPr lang="en-IN" dirty="0"/>
              <a:t> MySQL </a:t>
            </a:r>
          </a:p>
          <a:p>
            <a:pPr marL="342900" lvl="0" indent="-342900">
              <a:buFont typeface="Arial" panose="020B0604020202020204" pitchFamily="34" charset="0"/>
              <a:buChar char="•"/>
            </a:pPr>
            <a:r>
              <a:rPr lang="en-IN" b="1" dirty="0"/>
              <a:t>Security:</a:t>
            </a:r>
            <a:r>
              <a:rPr lang="en-IN" dirty="0"/>
              <a:t> JWT Authentication &amp; RBAC </a:t>
            </a:r>
          </a:p>
          <a:p>
            <a:pPr marL="342900" lvl="0" indent="-342900">
              <a:buFont typeface="Arial" panose="020B0604020202020204" pitchFamily="34" charset="0"/>
              <a:buChar char="•"/>
            </a:pPr>
            <a:r>
              <a:rPr lang="en-IN" b="1" dirty="0"/>
              <a:t>Testing:</a:t>
            </a:r>
            <a:r>
              <a:rPr lang="en-IN" dirty="0"/>
              <a:t> Postman + Unit Testing </a:t>
            </a:r>
          </a:p>
          <a:p>
            <a:pPr marL="342900" lvl="0" indent="-342900">
              <a:buFont typeface="Arial" panose="020B0604020202020204" pitchFamily="34" charset="0"/>
              <a:buChar char="•"/>
            </a:pPr>
            <a:r>
              <a:rPr lang="en-IN" b="1" dirty="0"/>
              <a:t>CI/CD:</a:t>
            </a:r>
            <a:r>
              <a:rPr lang="en-IN" dirty="0"/>
              <a:t> GitHub Actions </a:t>
            </a:r>
          </a:p>
          <a:p>
            <a:pPr marL="342900" lvl="0" indent="-342900">
              <a:buFont typeface="Arial" panose="020B0604020202020204" pitchFamily="34" charset="0"/>
              <a:buChar char="•"/>
            </a:pPr>
            <a:r>
              <a:rPr lang="en-IN" b="1" dirty="0"/>
              <a:t>Security Analysis:</a:t>
            </a:r>
            <a:r>
              <a:rPr lang="en-IN" dirty="0"/>
              <a:t> </a:t>
            </a:r>
            <a:r>
              <a:rPr lang="en-IN" dirty="0" err="1"/>
              <a:t>Semgrep</a:t>
            </a:r>
            <a:endParaRPr lang="en-IN" dirty="0"/>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7E1F28-0206-1D89-FBFC-6F1C0274C0B9}"/>
              </a:ext>
            </a:extLst>
          </p:cNvPr>
          <p:cNvGraphicFramePr>
            <a:graphicFrameLocks noGrp="1"/>
          </p:cNvGraphicFramePr>
          <p:nvPr>
            <p:extLst>
              <p:ext uri="{D42A27DB-BD31-4B8C-83A1-F6EECF244321}">
                <p14:modId xmlns:p14="http://schemas.microsoft.com/office/powerpoint/2010/main" val="2582329218"/>
              </p:ext>
            </p:extLst>
          </p:nvPr>
        </p:nvGraphicFramePr>
        <p:xfrm>
          <a:off x="677333" y="1694974"/>
          <a:ext cx="10515600" cy="329184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781409942"/>
                    </a:ext>
                  </a:extLst>
                </a:gridCol>
                <a:gridCol w="5257800">
                  <a:extLst>
                    <a:ext uri="{9D8B030D-6E8A-4147-A177-3AD203B41FA5}">
                      <a16:colId xmlns:a16="http://schemas.microsoft.com/office/drawing/2014/main" val="1168067556"/>
                    </a:ext>
                  </a:extLst>
                </a:gridCol>
              </a:tblGrid>
              <a:tr h="0">
                <a:tc>
                  <a:txBody>
                    <a:bodyPr/>
                    <a:lstStyle/>
                    <a:p>
                      <a:pPr>
                        <a:buNone/>
                      </a:pPr>
                      <a:r>
                        <a:rPr lang="en-IN"/>
                        <a:t>Phase</a:t>
                      </a:r>
                    </a:p>
                  </a:txBody>
                  <a:tcPr anchor="ctr"/>
                </a:tc>
                <a:tc>
                  <a:txBody>
                    <a:bodyPr/>
                    <a:lstStyle/>
                    <a:p>
                      <a:pPr>
                        <a:buNone/>
                      </a:pPr>
                      <a:r>
                        <a:rPr lang="en-IN"/>
                        <a:t>Work</a:t>
                      </a:r>
                    </a:p>
                  </a:txBody>
                  <a:tcPr anchor="ctr"/>
                </a:tc>
                <a:extLst>
                  <a:ext uri="{0D108BD9-81ED-4DB2-BD59-A6C34878D82A}">
                    <a16:rowId xmlns:a16="http://schemas.microsoft.com/office/drawing/2014/main" val="3646740327"/>
                  </a:ext>
                </a:extLst>
              </a:tr>
              <a:tr h="0">
                <a:tc>
                  <a:txBody>
                    <a:bodyPr/>
                    <a:lstStyle/>
                    <a:p>
                      <a:pPr>
                        <a:buNone/>
                      </a:pPr>
                      <a:r>
                        <a:rPr lang="en-IN"/>
                        <a:t>Phase 1</a:t>
                      </a:r>
                    </a:p>
                  </a:txBody>
                  <a:tcPr anchor="ctr"/>
                </a:tc>
                <a:tc>
                  <a:txBody>
                    <a:bodyPr/>
                    <a:lstStyle/>
                    <a:p>
                      <a:pPr>
                        <a:buNone/>
                      </a:pPr>
                      <a:r>
                        <a:rPr lang="en-IN"/>
                        <a:t>Requirement Analysis &amp; Problem Definition</a:t>
                      </a:r>
                    </a:p>
                  </a:txBody>
                  <a:tcPr anchor="ctr"/>
                </a:tc>
                <a:extLst>
                  <a:ext uri="{0D108BD9-81ED-4DB2-BD59-A6C34878D82A}">
                    <a16:rowId xmlns:a16="http://schemas.microsoft.com/office/drawing/2014/main" val="2500643681"/>
                  </a:ext>
                </a:extLst>
              </a:tr>
              <a:tr h="0">
                <a:tc>
                  <a:txBody>
                    <a:bodyPr/>
                    <a:lstStyle/>
                    <a:p>
                      <a:pPr>
                        <a:buNone/>
                      </a:pPr>
                      <a:r>
                        <a:rPr lang="en-IN"/>
                        <a:t>Phase 2</a:t>
                      </a:r>
                    </a:p>
                  </a:txBody>
                  <a:tcPr anchor="ctr"/>
                </a:tc>
                <a:tc>
                  <a:txBody>
                    <a:bodyPr/>
                    <a:lstStyle/>
                    <a:p>
                      <a:pPr>
                        <a:buNone/>
                      </a:pPr>
                      <a:r>
                        <a:rPr lang="en-IN"/>
                        <a:t>Literature Survey &amp; Research Gap</a:t>
                      </a:r>
                    </a:p>
                  </a:txBody>
                  <a:tcPr anchor="ctr"/>
                </a:tc>
                <a:extLst>
                  <a:ext uri="{0D108BD9-81ED-4DB2-BD59-A6C34878D82A}">
                    <a16:rowId xmlns:a16="http://schemas.microsoft.com/office/drawing/2014/main" val="768901177"/>
                  </a:ext>
                </a:extLst>
              </a:tr>
              <a:tr h="0">
                <a:tc>
                  <a:txBody>
                    <a:bodyPr/>
                    <a:lstStyle/>
                    <a:p>
                      <a:pPr>
                        <a:buNone/>
                      </a:pPr>
                      <a:r>
                        <a:rPr lang="en-IN"/>
                        <a:t>Phase 3</a:t>
                      </a:r>
                    </a:p>
                  </a:txBody>
                  <a:tcPr anchor="ctr"/>
                </a:tc>
                <a:tc>
                  <a:txBody>
                    <a:bodyPr/>
                    <a:lstStyle/>
                    <a:p>
                      <a:pPr>
                        <a:buNone/>
                      </a:pPr>
                      <a:r>
                        <a:rPr lang="en-IN"/>
                        <a:t>Architecture &amp; Database Design</a:t>
                      </a:r>
                    </a:p>
                  </a:txBody>
                  <a:tcPr anchor="ctr"/>
                </a:tc>
                <a:extLst>
                  <a:ext uri="{0D108BD9-81ED-4DB2-BD59-A6C34878D82A}">
                    <a16:rowId xmlns:a16="http://schemas.microsoft.com/office/drawing/2014/main" val="3450645867"/>
                  </a:ext>
                </a:extLst>
              </a:tr>
              <a:tr h="0">
                <a:tc>
                  <a:txBody>
                    <a:bodyPr/>
                    <a:lstStyle/>
                    <a:p>
                      <a:pPr>
                        <a:buNone/>
                      </a:pPr>
                      <a:r>
                        <a:rPr lang="en-IN"/>
                        <a:t>Phase 4</a:t>
                      </a:r>
                    </a:p>
                  </a:txBody>
                  <a:tcPr anchor="ctr"/>
                </a:tc>
                <a:tc>
                  <a:txBody>
                    <a:bodyPr/>
                    <a:lstStyle/>
                    <a:p>
                      <a:pPr>
                        <a:buNone/>
                      </a:pPr>
                      <a:r>
                        <a:rPr lang="en-IN"/>
                        <a:t>Microservices Development</a:t>
                      </a:r>
                    </a:p>
                  </a:txBody>
                  <a:tcPr anchor="ctr"/>
                </a:tc>
                <a:extLst>
                  <a:ext uri="{0D108BD9-81ED-4DB2-BD59-A6C34878D82A}">
                    <a16:rowId xmlns:a16="http://schemas.microsoft.com/office/drawing/2014/main" val="1979254705"/>
                  </a:ext>
                </a:extLst>
              </a:tr>
              <a:tr h="0">
                <a:tc>
                  <a:txBody>
                    <a:bodyPr/>
                    <a:lstStyle/>
                    <a:p>
                      <a:pPr>
                        <a:buNone/>
                      </a:pPr>
                      <a:r>
                        <a:rPr lang="en-IN"/>
                        <a:t>Phase 5</a:t>
                      </a:r>
                    </a:p>
                  </a:txBody>
                  <a:tcPr anchor="ctr"/>
                </a:tc>
                <a:tc>
                  <a:txBody>
                    <a:bodyPr/>
                    <a:lstStyle/>
                    <a:p>
                      <a:pPr>
                        <a:buNone/>
                      </a:pPr>
                      <a:r>
                        <a:rPr lang="en-IN"/>
                        <a:t>API Integration &amp; Authentication</a:t>
                      </a:r>
                    </a:p>
                  </a:txBody>
                  <a:tcPr anchor="ctr"/>
                </a:tc>
                <a:extLst>
                  <a:ext uri="{0D108BD9-81ED-4DB2-BD59-A6C34878D82A}">
                    <a16:rowId xmlns:a16="http://schemas.microsoft.com/office/drawing/2014/main" val="4273949959"/>
                  </a:ext>
                </a:extLst>
              </a:tr>
              <a:tr h="0">
                <a:tc>
                  <a:txBody>
                    <a:bodyPr/>
                    <a:lstStyle/>
                    <a:p>
                      <a:pPr>
                        <a:buNone/>
                      </a:pPr>
                      <a:r>
                        <a:rPr lang="en-IN"/>
                        <a:t>Phase 6</a:t>
                      </a:r>
                    </a:p>
                  </a:txBody>
                  <a:tcPr anchor="ctr"/>
                </a:tc>
                <a:tc>
                  <a:txBody>
                    <a:bodyPr/>
                    <a:lstStyle/>
                    <a:p>
                      <a:pPr>
                        <a:buNone/>
                      </a:pPr>
                      <a:r>
                        <a:rPr lang="en-IN"/>
                        <a:t>Testing &amp; Security Analysis</a:t>
                      </a:r>
                    </a:p>
                  </a:txBody>
                  <a:tcPr anchor="ctr"/>
                </a:tc>
                <a:extLst>
                  <a:ext uri="{0D108BD9-81ED-4DB2-BD59-A6C34878D82A}">
                    <a16:rowId xmlns:a16="http://schemas.microsoft.com/office/drawing/2014/main" val="2807412691"/>
                  </a:ext>
                </a:extLst>
              </a:tr>
              <a:tr h="0">
                <a:tc>
                  <a:txBody>
                    <a:bodyPr/>
                    <a:lstStyle/>
                    <a:p>
                      <a:pPr>
                        <a:buNone/>
                      </a:pPr>
                      <a:r>
                        <a:rPr lang="en-IN"/>
                        <a:t>Phase 7</a:t>
                      </a:r>
                    </a:p>
                  </a:txBody>
                  <a:tcPr anchor="ctr"/>
                </a:tc>
                <a:tc>
                  <a:txBody>
                    <a:bodyPr/>
                    <a:lstStyle/>
                    <a:p>
                      <a:pPr>
                        <a:buNone/>
                      </a:pPr>
                      <a:r>
                        <a:rPr lang="en-IN"/>
                        <a:t>CI/CD &amp; Final Integration</a:t>
                      </a:r>
                    </a:p>
                  </a:txBody>
                  <a:tcPr anchor="ctr"/>
                </a:tc>
                <a:extLst>
                  <a:ext uri="{0D108BD9-81ED-4DB2-BD59-A6C34878D82A}">
                    <a16:rowId xmlns:a16="http://schemas.microsoft.com/office/drawing/2014/main" val="506903810"/>
                  </a:ext>
                </a:extLst>
              </a:tr>
              <a:tr h="0">
                <a:tc>
                  <a:txBody>
                    <a:bodyPr/>
                    <a:lstStyle/>
                    <a:p>
                      <a:pPr>
                        <a:buNone/>
                      </a:pPr>
                      <a:r>
                        <a:rPr lang="en-IN"/>
                        <a:t>Phase 8</a:t>
                      </a:r>
                    </a:p>
                  </a:txBody>
                  <a:tcPr anchor="ctr"/>
                </a:tc>
                <a:tc>
                  <a:txBody>
                    <a:bodyPr/>
                    <a:lstStyle/>
                    <a:p>
                      <a:pPr>
                        <a:buNone/>
                      </a:pPr>
                      <a:r>
                        <a:rPr lang="en-IN" dirty="0"/>
                        <a:t>Documentation &amp; Final Presentation</a:t>
                      </a:r>
                    </a:p>
                  </a:txBody>
                  <a:tcPr anchor="ctr"/>
                </a:tc>
                <a:extLst>
                  <a:ext uri="{0D108BD9-81ED-4DB2-BD59-A6C34878D82A}">
                    <a16:rowId xmlns:a16="http://schemas.microsoft.com/office/drawing/2014/main" val="1735498405"/>
                  </a:ext>
                </a:extLst>
              </a:tr>
            </a:tbl>
          </a:graphicData>
        </a:graphic>
      </p:graphicFrame>
    </p:spTree>
    <p:extLst>
      <p:ext uri="{BB962C8B-B14F-4D97-AF65-F5344CB8AC3E}">
        <p14:creationId xmlns:p14="http://schemas.microsoft.com/office/powerpoint/2010/main" val="16307580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669</Words>
  <Application>Microsoft Office PowerPoint</Application>
  <PresentationFormat>Widescreen</PresentationFormat>
  <Paragraphs>124</Paragraphs>
  <Slides>9</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Roopesh Chalasani</cp:lastModifiedBy>
  <cp:revision>34</cp:revision>
  <dcterms:created xsi:type="dcterms:W3CDTF">2026-08-08T06:33:56Z</dcterms:created>
  <dcterms:modified xsi:type="dcterms:W3CDTF">2026-08-27T08:09:43Z</dcterms:modified>
</cp:coreProperties>
</file>