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2"/>
  </p:notesMasterIdLst>
  <p:sldIdLst>
    <p:sldId id="262" r:id="rId3"/>
    <p:sldId id="707" r:id="rId4"/>
    <p:sldId id="257" r:id="rId5"/>
    <p:sldId id="903" r:id="rId6"/>
    <p:sldId id="902" r:id="rId7"/>
    <p:sldId id="258" r:id="rId8"/>
    <p:sldId id="259" r:id="rId9"/>
    <p:sldId id="260" r:id="rId10"/>
    <p:sldId id="904"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90" d="100"/>
          <a:sy n="90" d="100"/>
        </p:scale>
        <p:origin x="499"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4B03022-1F30-4885-B78F-22C04F8A973E}" type="doc">
      <dgm:prSet loTypeId="urn:microsoft.com/office/officeart/2005/8/layout/venn3" loCatId="relationship" qsTypeId="urn:microsoft.com/office/officeart/2005/8/quickstyle/3d7#1" qsCatId="3D" csTypeId="urn:microsoft.com/office/officeart/2005/8/colors/colorful1#1" csCatId="colorful" phldr="1"/>
      <dgm:spPr/>
      <dgm:t>
        <a:bodyPr/>
        <a:lstStyle/>
        <a:p>
          <a:endParaRPr lang="en-IN"/>
        </a:p>
      </dgm:t>
    </dgm:pt>
    <dgm:pt modelId="{4094C340-BA43-4FE7-BEDC-37D235AAAD16}" type="pres">
      <dgm:prSet presAssocID="{84B03022-1F30-4885-B78F-22C04F8A973E}" presName="Name0" presStyleCnt="0">
        <dgm:presLayoutVars>
          <dgm:dir/>
          <dgm:resizeHandles val="exact"/>
        </dgm:presLayoutVars>
      </dgm:prSet>
      <dgm:spPr/>
    </dgm:pt>
  </dgm:ptLst>
  <dgm:cxnLst>
    <dgm:cxn modelId="{536B444D-E965-4C7A-901B-8D59695FE972}" type="presOf" srcId="{84B03022-1F30-4885-B78F-22C04F8A973E}" destId="{4094C340-BA43-4FE7-BEDC-37D235AAAD16}" srcOrd="0" destOrd="0" presId="urn:microsoft.com/office/officeart/2005/8/layout/ven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layout1.xml><?xml version="1.0" encoding="utf-8"?>
<dgm:layoutDef xmlns:dgm="http://schemas.openxmlformats.org/drawingml/2006/diagram" xmlns:a="http://schemas.openxmlformats.org/drawingml/2006/main" uniqueId="urn:microsoft.com/office/officeart/2005/8/layout/venn3">
  <dgm:title val=""/>
  <dgm:desc val=""/>
  <dgm:catLst>
    <dgm:cat type="relationship" pri="2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fallback" val="2D"/>
        </dgm:alg>
      </dgm:if>
      <dgm:else name="Name3">
        <dgm:alg type="lin">
          <dgm:param type="fallback" val="2D"/>
          <dgm:param type="linDir" val="fromR"/>
        </dgm:alg>
      </dgm:else>
    </dgm:choose>
    <dgm:shape xmlns:r="http://schemas.openxmlformats.org/officeDocument/2006/relationships" r:blip="">
      <dgm:adjLst/>
    </dgm:shape>
    <dgm:presOf/>
    <dgm:constrLst>
      <dgm:constr type="w" for="ch" ptType="node" refType="w"/>
      <dgm:constr type="h" for="ch" ptType="node" refType="w" refFor="ch" refPtType="node"/>
      <dgm:constr type="w" for="ch" forName="space" refType="w" refFor="ch" refPtType="node" fact="-0.2"/>
      <dgm:constr type="primFontSz" for="ch" ptType="node" op="equ" val="65"/>
    </dgm:constrLst>
    <dgm:ruleLst/>
    <dgm:forEach name="Name4" axis="ch" ptType="node">
      <dgm:layoutNode name="Name5" styleLbl="vennNode1">
        <dgm:varLst>
          <dgm:bulletEnabled val="1"/>
        </dgm:varLst>
        <dgm:alg type="tx">
          <dgm:param type="txAnchorVertCh" val="mid"/>
          <dgm:param type="txAnchorHorzCh" val="ctr"/>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w" fact="0.156"/>
          <dgm:constr type="rMarg" refType="w" fact="0.156"/>
        </dgm:constrLst>
        <dgm:ruleLst>
          <dgm:rule type="primFontSz" val="5" fact="NaN" max="NaN"/>
        </dgm:ruleLst>
      </dgm:layoutNode>
      <dgm:forEach name="Name6"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7#1">
  <dgm:title val=""/>
  <dgm:desc val=""/>
  <dgm:catLst>
    <dgm:cat type="3D" pri="11700"/>
  </dgm:catLst>
  <dgm:scene3d>
    <a:camera prst="perspectiveLeft" zoom="91000"/>
    <a:lightRig rig="threePt" dir="t">
      <a:rot lat="0" lon="0" rev="20640000"/>
    </a:lightRig>
  </dgm:scene3d>
  <dgm:styleLbl name="node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lnNod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vennNode1">
    <dgm:scene3d>
      <a:camera prst="orthographicFront"/>
      <a:lightRig rig="threePt" dir="t"/>
    </dgm:scene3d>
    <dgm:sp3d extrusionH="50600" prstMaterial="clear">
      <a:bevelT w="101600" h="80600" prst="relaxedInset"/>
      <a:bevelB w="80600" h="80600" prst="relaxedInset"/>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50600" prstMaterial="metal">
      <a:bevelT w="101600" h="80600" prst="relaxedInset"/>
      <a:bevelB w="80600" h="80600" prst="relaxedInset"/>
    </dgm:sp3d>
    <dgm:txPr/>
    <dgm:style>
      <a:lnRef idx="1">
        <a:scrgbClr r="0" g="0" b="0"/>
      </a:lnRef>
      <a:fillRef idx="1">
        <a:scrgbClr r="0" g="0" b="0"/>
      </a:fillRef>
      <a:effectRef idx="1">
        <a:scrgbClr r="0" g="0" b="0"/>
      </a:effectRef>
      <a:fontRef idx="minor">
        <a:schemeClr val="dk1"/>
      </a:fontRef>
    </dgm:style>
  </dgm:styleLbl>
  <dgm:styleLbl name="node1">
    <dgm:scene3d>
      <a:camera prst="orthographicFront"/>
      <a:lightRig rig="threePt" dir="t"/>
    </dgm:scene3d>
    <dgm:sp3d extrusionH="50600" prstMaterial="metal">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fgImgPlace1">
    <dgm:scene3d>
      <a:camera prst="orthographicFront"/>
      <a:lightRig rig="threePt" dir="t"/>
    </dgm:scene3d>
    <dgm:sp3d z="572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alignImgPlac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dgm:style>
  </dgm:styleLbl>
  <dgm:styleLbl name="bgImgPlace1">
    <dgm:scene3d>
      <a:camera prst="orthographicFront"/>
      <a:lightRig rig="threePt" dir="t"/>
    </dgm:scene3d>
    <dgm:sp3d z="-2118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sibTrans2D1">
    <dgm:scene3d>
      <a:camera prst="orthographicFront"/>
      <a:lightRig rig="threePt" dir="t"/>
    </dgm:scene3d>
    <dgm:sp3d z="-110000">
      <a:bevelT w="40600" h="20600" prst="relaxedInset"/>
    </dgm:sp3d>
    <dgm:txPr/>
    <dgm:style>
      <a:lnRef idx="0">
        <a:scrgbClr r="0" g="0" b="0"/>
      </a:lnRef>
      <a:fillRef idx="1">
        <a:scrgbClr r="0" g="0" b="0"/>
      </a:fillRef>
      <a:effectRef idx="2">
        <a:scrgbClr r="0" g="0" b="0"/>
      </a:effectRef>
      <a:fontRef idx="minor"/>
    </dgm:style>
  </dgm:styleLbl>
  <dgm:styleLbl name="fgSibTrans2D1">
    <dgm:scene3d>
      <a:camera prst="orthographicFront"/>
      <a:lightRig rig="threePt" dir="t"/>
    </dgm:scene3d>
    <dgm:sp3d z="10600">
      <a:bevelT w="40600" h="20600" prst="relaxedInset"/>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z="-211800">
      <a:bevelT w="40600" h="20600" prst="relaxedInset"/>
    </dgm:sp3d>
    <dgm:txPr/>
    <dgm:style>
      <a:lnRef idx="0">
        <a:scrgbClr r="0" g="0" b="0"/>
      </a:lnRef>
      <a:fillRef idx="1">
        <a:scrgbClr r="0" g="0" b="0"/>
      </a:fillRef>
      <a:effectRef idx="2">
        <a:scrgbClr r="0" g="0" b="0"/>
      </a:effectRef>
      <a:fontRef idx="minor"/>
    </dgm:style>
  </dgm:styleLbl>
  <dgm:styleLbl name="sibTrans1D1">
    <dgm:scene3d>
      <a:camera prst="orthographicFront"/>
      <a:lightRig rig="threePt" dir="t"/>
    </dgm:scene3d>
    <dgm:sp3d z="-110000"/>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0000"/>
    <dgm:txPr/>
    <dgm:style>
      <a:lnRef idx="1">
        <a:scrgbClr r="0" g="0" b="0"/>
      </a:lnRef>
      <a:fillRef idx="1">
        <a:scrgbClr r="0" g="0" b="0"/>
      </a:fillRef>
      <a:effectRef idx="0">
        <a:scrgbClr r="0" g="0" b="0"/>
      </a:effectRef>
      <a:fontRef idx="minor"/>
    </dgm:style>
  </dgm:styleLbl>
  <dgm:styleLbl name="asst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parChTrans2D1">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2">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3">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2D4">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1D1">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extrusionH="50600">
      <a:bevelT w="101600" h="80600"/>
      <a:bevelB w="80600" h="80600"/>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50600">
      <a:bevelT w="101600" h="80600"/>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solidAlignAcc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solidBgAcc1">
    <dgm:scene3d>
      <a:camera prst="orthographicFront"/>
      <a:lightRig rig="threePt" dir="t"/>
    </dgm:scene3d>
    <dgm:sp3d z="-161800" extrusionH="10600" contourW="3000">
      <a:bevelT w="48600" h="8600" prst="softRound"/>
      <a:bevelB w="48600" h="8600" prst="relaxedInset"/>
    </dgm:sp3d>
    <dgm:txPr/>
    <dgm:style>
      <a:lnRef idx="0">
        <a:scrgbClr r="0" g="0" b="0"/>
      </a:lnRef>
      <a:fillRef idx="1">
        <a:scrgbClr r="0" g="0" b="0"/>
      </a:fillRef>
      <a:effectRef idx="0">
        <a:scrgbClr r="0" g="0" b="0"/>
      </a:effectRef>
      <a:fontRef idx="minor"/>
    </dgm:style>
  </dgm:styleLbl>
  <dgm:styleLbl name="fgAccFollowNode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161800" extrusionH="10600" contourW="3000">
      <a:bevelT w="48600" h="8600" prst="relaxedInset"/>
      <a:bevelB w="48600" h="8600" prst="relaxedInset"/>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618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50600">
      <a:bevelT w="80600" h="80600" prst="relaxedInset"/>
      <a:bevelB w="80600" h="80600" prst="relaxedInset"/>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200" extrusionH="600" contourW="3000" prstMaterial="plastic">
      <a:bevelT w="80600" h="18600" prst="relaxedInset"/>
      <a:bevelB w="80600" h="8600" prst="relaxedInset"/>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A666E0-C270-4F2D-A5DC-96BE795B540E}" type="datetimeFigureOut">
              <a:rPr lang="en-US" smtClean="0"/>
              <a:t>8/27/2026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19044B-B5AF-477C-950C-4ED51263438D}" type="slidenum">
              <a:rPr lang="en-US" smtClean="0"/>
              <a:t>‹#›</a:t>
            </a:fld>
            <a:endParaRPr lang="en-US"/>
          </a:p>
        </p:txBody>
      </p:sp>
    </p:spTree>
    <p:extLst>
      <p:ext uri="{BB962C8B-B14F-4D97-AF65-F5344CB8AC3E}">
        <p14:creationId xmlns:p14="http://schemas.microsoft.com/office/powerpoint/2010/main" val="2208606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F84AE20-9EAE-4BB7-93AC-7EFA05BCA1CF}" type="slidenum">
              <a:rPr lang="en-IN" smtClean="0"/>
              <a:t>1</a:t>
            </a:fld>
            <a:endParaRPr lang="en-IN" dirty="0"/>
          </a:p>
        </p:txBody>
      </p:sp>
    </p:spTree>
    <p:extLst>
      <p:ext uri="{BB962C8B-B14F-4D97-AF65-F5344CB8AC3E}">
        <p14:creationId xmlns:p14="http://schemas.microsoft.com/office/powerpoint/2010/main" val="22274734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E162C7A-CC9D-4035-A213-68F795EB7A2A}" type="slidenum">
              <a:rPr lang="en-IN" smtClean="0"/>
              <a:t>5</a:t>
            </a:fld>
            <a:endParaRPr lang="en-IN"/>
          </a:p>
        </p:txBody>
      </p:sp>
    </p:spTree>
    <p:extLst>
      <p:ext uri="{BB962C8B-B14F-4D97-AF65-F5344CB8AC3E}">
        <p14:creationId xmlns:p14="http://schemas.microsoft.com/office/powerpoint/2010/main" val="16477035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2BE77-A6B4-BF9A-F59F-6A1C17E6D45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9F4D497-63DE-C270-40A4-331A37D0B0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7809C3A-1739-D230-186B-84454F605084}"/>
              </a:ext>
            </a:extLst>
          </p:cNvPr>
          <p:cNvSpPr>
            <a:spLocks noGrp="1"/>
          </p:cNvSpPr>
          <p:nvPr>
            <p:ph type="dt" sz="half" idx="10"/>
          </p:nvPr>
        </p:nvSpPr>
        <p:spPr/>
        <p:txBody>
          <a:bodyPr/>
          <a:lstStyle/>
          <a:p>
            <a:fld id="{E227863A-4956-4659-9192-3D74DA4F7578}" type="datetimeFigureOut">
              <a:rPr lang="en-US" smtClean="0"/>
              <a:t>8/27/2026</a:t>
            </a:fld>
            <a:endParaRPr lang="en-US"/>
          </a:p>
        </p:txBody>
      </p:sp>
      <p:sp>
        <p:nvSpPr>
          <p:cNvPr id="5" name="Footer Placeholder 4">
            <a:extLst>
              <a:ext uri="{FF2B5EF4-FFF2-40B4-BE49-F238E27FC236}">
                <a16:creationId xmlns:a16="http://schemas.microsoft.com/office/drawing/2014/main" id="{F5A63778-C058-1235-D3A3-7BCFF3CD01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9A1708-DD63-B8A6-CDE5-A057B2CF873B}"/>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24086997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A0280-1254-E679-102E-D8CC13C8C6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3784D78-2E62-1C74-D557-5115FDC295B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B02B77-F303-2F09-80CB-35B74D2F58C9}"/>
              </a:ext>
            </a:extLst>
          </p:cNvPr>
          <p:cNvSpPr>
            <a:spLocks noGrp="1"/>
          </p:cNvSpPr>
          <p:nvPr>
            <p:ph type="dt" sz="half" idx="10"/>
          </p:nvPr>
        </p:nvSpPr>
        <p:spPr/>
        <p:txBody>
          <a:bodyPr/>
          <a:lstStyle/>
          <a:p>
            <a:fld id="{E227863A-4956-4659-9192-3D74DA4F7578}" type="datetimeFigureOut">
              <a:rPr lang="en-US" smtClean="0"/>
              <a:t>8/27/2026</a:t>
            </a:fld>
            <a:endParaRPr lang="en-US"/>
          </a:p>
        </p:txBody>
      </p:sp>
      <p:sp>
        <p:nvSpPr>
          <p:cNvPr id="5" name="Footer Placeholder 4">
            <a:extLst>
              <a:ext uri="{FF2B5EF4-FFF2-40B4-BE49-F238E27FC236}">
                <a16:creationId xmlns:a16="http://schemas.microsoft.com/office/drawing/2014/main" id="{A13359BF-B012-085F-389A-331E721BC9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0460-9CE8-D43D-79E7-A7A9144A3AD0}"/>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26301623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787D46-3DEF-526E-5F46-4ADACBEC0A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55A517A-D5B3-3AF2-38BE-1D89988138B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602125-0289-3272-156D-A3C31E848252}"/>
              </a:ext>
            </a:extLst>
          </p:cNvPr>
          <p:cNvSpPr>
            <a:spLocks noGrp="1"/>
          </p:cNvSpPr>
          <p:nvPr>
            <p:ph type="dt" sz="half" idx="10"/>
          </p:nvPr>
        </p:nvSpPr>
        <p:spPr/>
        <p:txBody>
          <a:bodyPr/>
          <a:lstStyle/>
          <a:p>
            <a:fld id="{E227863A-4956-4659-9192-3D74DA4F7578}" type="datetimeFigureOut">
              <a:rPr lang="en-US" smtClean="0"/>
              <a:t>8/27/2026</a:t>
            </a:fld>
            <a:endParaRPr lang="en-US"/>
          </a:p>
        </p:txBody>
      </p:sp>
      <p:sp>
        <p:nvSpPr>
          <p:cNvPr id="5" name="Footer Placeholder 4">
            <a:extLst>
              <a:ext uri="{FF2B5EF4-FFF2-40B4-BE49-F238E27FC236}">
                <a16:creationId xmlns:a16="http://schemas.microsoft.com/office/drawing/2014/main" id="{659971A6-CC5A-CC09-A1F2-E284284E87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9898D5-FC90-9DA1-FE2F-D07DEDDAD616}"/>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039952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89433-0D52-95EF-D78E-4FC912D4FCA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1A2DAE-6EF3-6910-5373-1A5DF40909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91AE70-38B9-B797-DE71-57CAE4C82D2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25E50E-F402-07A4-460F-3431CA999232}"/>
              </a:ext>
            </a:extLst>
          </p:cNvPr>
          <p:cNvSpPr>
            <a:spLocks noGrp="1"/>
          </p:cNvSpPr>
          <p:nvPr>
            <p:ph type="dt" sz="half" idx="10"/>
          </p:nvPr>
        </p:nvSpPr>
        <p:spPr/>
        <p:txBody>
          <a:bodyPr/>
          <a:lstStyle/>
          <a:p>
            <a:fld id="{E227863A-4956-4659-9192-3D74DA4F7578}" type="datetimeFigureOut">
              <a:rPr lang="en-US" smtClean="0"/>
              <a:t>8/27/2026</a:t>
            </a:fld>
            <a:endParaRPr lang="en-US"/>
          </a:p>
        </p:txBody>
      </p:sp>
      <p:sp>
        <p:nvSpPr>
          <p:cNvPr id="6" name="Footer Placeholder 5">
            <a:extLst>
              <a:ext uri="{FF2B5EF4-FFF2-40B4-BE49-F238E27FC236}">
                <a16:creationId xmlns:a16="http://schemas.microsoft.com/office/drawing/2014/main" id="{664D7A32-7B4B-0167-CBD3-4FB4F42F7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EB928D-DF00-B9C5-1A36-1E52C14CBBB7}"/>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4671984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CFE06-EEED-5CC3-A38A-576DD2C8AF0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DB0BA8C-9EDE-BB49-BD35-49BAFCB8D3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E1DDD39-7D2C-4493-F56F-81F6BC3F98D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714469B-6213-D34D-07A9-FCDC82AC0F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6440F3-3F2D-85CC-D2E2-6D0D54B8A2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D346DE1-9818-60AF-EAF8-FFED39BA5E89}"/>
              </a:ext>
            </a:extLst>
          </p:cNvPr>
          <p:cNvSpPr>
            <a:spLocks noGrp="1"/>
          </p:cNvSpPr>
          <p:nvPr>
            <p:ph type="dt" sz="half" idx="10"/>
          </p:nvPr>
        </p:nvSpPr>
        <p:spPr/>
        <p:txBody>
          <a:bodyPr/>
          <a:lstStyle/>
          <a:p>
            <a:fld id="{E227863A-4956-4659-9192-3D74DA4F7578}" type="datetimeFigureOut">
              <a:rPr lang="en-US" smtClean="0"/>
              <a:t>8/27/2026</a:t>
            </a:fld>
            <a:endParaRPr lang="en-US"/>
          </a:p>
        </p:txBody>
      </p:sp>
      <p:sp>
        <p:nvSpPr>
          <p:cNvPr id="8" name="Footer Placeholder 7">
            <a:extLst>
              <a:ext uri="{FF2B5EF4-FFF2-40B4-BE49-F238E27FC236}">
                <a16:creationId xmlns:a16="http://schemas.microsoft.com/office/drawing/2014/main" id="{265E9E00-6460-F360-EDFD-B03FBA2C63B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ABFFDD7-5BFE-EA3B-6250-A381A569564A}"/>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3362514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CE0FC-511C-2C2C-E510-CDDF263418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96671-3C71-777F-3A4D-A89D7E5D68FA}"/>
              </a:ext>
            </a:extLst>
          </p:cNvPr>
          <p:cNvSpPr>
            <a:spLocks noGrp="1"/>
          </p:cNvSpPr>
          <p:nvPr>
            <p:ph type="dt" sz="half" idx="10"/>
          </p:nvPr>
        </p:nvSpPr>
        <p:spPr/>
        <p:txBody>
          <a:bodyPr/>
          <a:lstStyle/>
          <a:p>
            <a:fld id="{E227863A-4956-4659-9192-3D74DA4F7578}" type="datetimeFigureOut">
              <a:rPr lang="en-US" smtClean="0"/>
              <a:t>8/27/2026</a:t>
            </a:fld>
            <a:endParaRPr lang="en-US"/>
          </a:p>
        </p:txBody>
      </p:sp>
      <p:sp>
        <p:nvSpPr>
          <p:cNvPr id="4" name="Footer Placeholder 3">
            <a:extLst>
              <a:ext uri="{FF2B5EF4-FFF2-40B4-BE49-F238E27FC236}">
                <a16:creationId xmlns:a16="http://schemas.microsoft.com/office/drawing/2014/main" id="{30024A6A-95A8-2753-339B-FC09D4CAEB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59E07AF-B1A0-E180-D5AC-3F2F0031C98B}"/>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4182466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8527A8-9BA5-6E6B-9B96-E6F6FADC46A2}"/>
              </a:ext>
            </a:extLst>
          </p:cNvPr>
          <p:cNvSpPr>
            <a:spLocks noGrp="1"/>
          </p:cNvSpPr>
          <p:nvPr>
            <p:ph type="dt" sz="half" idx="10"/>
          </p:nvPr>
        </p:nvSpPr>
        <p:spPr/>
        <p:txBody>
          <a:bodyPr/>
          <a:lstStyle/>
          <a:p>
            <a:fld id="{E227863A-4956-4659-9192-3D74DA4F7578}" type="datetimeFigureOut">
              <a:rPr lang="en-US" smtClean="0"/>
              <a:t>8/27/2026</a:t>
            </a:fld>
            <a:endParaRPr lang="en-US"/>
          </a:p>
        </p:txBody>
      </p:sp>
      <p:sp>
        <p:nvSpPr>
          <p:cNvPr id="3" name="Footer Placeholder 2">
            <a:extLst>
              <a:ext uri="{FF2B5EF4-FFF2-40B4-BE49-F238E27FC236}">
                <a16:creationId xmlns:a16="http://schemas.microsoft.com/office/drawing/2014/main" id="{4EAB8C98-6C07-7CF9-228C-EF7E6514747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2347070-DD15-038E-31F6-EF9EAD920E5F}"/>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348321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28049-15BD-A06B-510D-51342C765D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B77F51D-EFF8-F91B-8F7D-613493BF844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443686E-4EC3-3B25-F2B1-DEF00AA476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24C9A3-A390-80A1-50AD-21AB6B252580}"/>
              </a:ext>
            </a:extLst>
          </p:cNvPr>
          <p:cNvSpPr>
            <a:spLocks noGrp="1"/>
          </p:cNvSpPr>
          <p:nvPr>
            <p:ph type="dt" sz="half" idx="10"/>
          </p:nvPr>
        </p:nvSpPr>
        <p:spPr/>
        <p:txBody>
          <a:bodyPr/>
          <a:lstStyle/>
          <a:p>
            <a:fld id="{E227863A-4956-4659-9192-3D74DA4F7578}" type="datetimeFigureOut">
              <a:rPr lang="en-US" smtClean="0"/>
              <a:t>8/27/2026</a:t>
            </a:fld>
            <a:endParaRPr lang="en-US"/>
          </a:p>
        </p:txBody>
      </p:sp>
      <p:sp>
        <p:nvSpPr>
          <p:cNvPr id="6" name="Footer Placeholder 5">
            <a:extLst>
              <a:ext uri="{FF2B5EF4-FFF2-40B4-BE49-F238E27FC236}">
                <a16:creationId xmlns:a16="http://schemas.microsoft.com/office/drawing/2014/main" id="{E83FB16C-3A67-2F8D-2205-B1FF3BE2C6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137A69-0E62-6668-A184-42A6DBF6B07A}"/>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40894807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AFB01-3CD4-CFD9-5A71-411262FAAC8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DCEFF8-AB3F-42A6-ADAF-1080336CCB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3914F7C-5D5A-7C5D-50F2-B5067E1E61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E767C3-2493-217A-8E1D-03F6BBB4ACBD}"/>
              </a:ext>
            </a:extLst>
          </p:cNvPr>
          <p:cNvSpPr>
            <a:spLocks noGrp="1"/>
          </p:cNvSpPr>
          <p:nvPr>
            <p:ph type="dt" sz="half" idx="10"/>
          </p:nvPr>
        </p:nvSpPr>
        <p:spPr/>
        <p:txBody>
          <a:bodyPr/>
          <a:lstStyle/>
          <a:p>
            <a:fld id="{E227863A-4956-4659-9192-3D74DA4F7578}" type="datetimeFigureOut">
              <a:rPr lang="en-US" smtClean="0"/>
              <a:t>8/27/2026</a:t>
            </a:fld>
            <a:endParaRPr lang="en-US"/>
          </a:p>
        </p:txBody>
      </p:sp>
      <p:sp>
        <p:nvSpPr>
          <p:cNvPr id="6" name="Footer Placeholder 5">
            <a:extLst>
              <a:ext uri="{FF2B5EF4-FFF2-40B4-BE49-F238E27FC236}">
                <a16:creationId xmlns:a16="http://schemas.microsoft.com/office/drawing/2014/main" id="{348FEBF7-64BD-7F85-1240-C02E3705BD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0064DB1-56E3-B1C9-BED9-904A25C29434}"/>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32129736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CD61-B1C9-A34D-6022-ADB9D4B22C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24F7E8-10E7-E6C8-474D-2A06ED5015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E7D405-5D32-C40F-1430-5F5A97DD4FAF}"/>
              </a:ext>
            </a:extLst>
          </p:cNvPr>
          <p:cNvSpPr>
            <a:spLocks noGrp="1"/>
          </p:cNvSpPr>
          <p:nvPr>
            <p:ph type="dt" sz="half" idx="10"/>
          </p:nvPr>
        </p:nvSpPr>
        <p:spPr/>
        <p:txBody>
          <a:bodyPr/>
          <a:lstStyle/>
          <a:p>
            <a:fld id="{E227863A-4956-4659-9192-3D74DA4F7578}" type="datetimeFigureOut">
              <a:rPr lang="en-US" smtClean="0"/>
              <a:t>8/27/2026</a:t>
            </a:fld>
            <a:endParaRPr lang="en-US"/>
          </a:p>
        </p:txBody>
      </p:sp>
      <p:sp>
        <p:nvSpPr>
          <p:cNvPr id="5" name="Footer Placeholder 4">
            <a:extLst>
              <a:ext uri="{FF2B5EF4-FFF2-40B4-BE49-F238E27FC236}">
                <a16:creationId xmlns:a16="http://schemas.microsoft.com/office/drawing/2014/main" id="{7BD9955A-6D2E-8ABB-AF09-EC9590F01F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9E1B21-A5D1-C625-FE7B-A0232576A69A}"/>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3917886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5699036-2042-AC93-5117-4059611F3CE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2DD23D-712F-710C-F8D8-B4B2B3E0592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095516-E45F-6DA1-08EA-04E781DF5CCB}"/>
              </a:ext>
            </a:extLst>
          </p:cNvPr>
          <p:cNvSpPr>
            <a:spLocks noGrp="1"/>
          </p:cNvSpPr>
          <p:nvPr>
            <p:ph type="dt" sz="half" idx="10"/>
          </p:nvPr>
        </p:nvSpPr>
        <p:spPr/>
        <p:txBody>
          <a:bodyPr/>
          <a:lstStyle/>
          <a:p>
            <a:fld id="{E227863A-4956-4659-9192-3D74DA4F7578}" type="datetimeFigureOut">
              <a:rPr lang="en-US" smtClean="0"/>
              <a:t>8/27/2026</a:t>
            </a:fld>
            <a:endParaRPr lang="en-US"/>
          </a:p>
        </p:txBody>
      </p:sp>
      <p:sp>
        <p:nvSpPr>
          <p:cNvPr id="5" name="Footer Placeholder 4">
            <a:extLst>
              <a:ext uri="{FF2B5EF4-FFF2-40B4-BE49-F238E27FC236}">
                <a16:creationId xmlns:a16="http://schemas.microsoft.com/office/drawing/2014/main" id="{8B171DB9-D5C7-9EFA-0532-06B0BAAF41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735D92-5A89-BE34-CC33-93F56B3EDB49}"/>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3387349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1F6EA6A-8FF5-49DF-BDDD-F7431B447D8F}" type="datetime3">
              <a:rPr lang="en-US" smtClean="0"/>
              <a:t>27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20808602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411EB6-9770-43AB-BBCE-044F1DB66B82}" type="datetime3">
              <a:rPr lang="en-US" smtClean="0"/>
              <a:t>27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13482983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DC905DC-9CDD-41AE-979C-F366BC0443ED}" type="datetime3">
              <a:rPr lang="en-US" smtClean="0"/>
              <a:t>27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27399230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84FAC05-A025-4B8A-AB88-2AE8812F8A48}" type="datetime3">
              <a:rPr lang="en-US" smtClean="0"/>
              <a:t>27 August 2026</a:t>
            </a:fld>
            <a:endParaRPr lang="en-IN"/>
          </a:p>
        </p:txBody>
      </p:sp>
      <p:sp>
        <p:nvSpPr>
          <p:cNvPr id="6" name="Footer Placeholder 5"/>
          <p:cNvSpPr>
            <a:spLocks noGrp="1"/>
          </p:cNvSpPr>
          <p:nvPr>
            <p:ph type="ftr" sz="quarter" idx="11"/>
          </p:nvPr>
        </p:nvSpPr>
        <p:spPr/>
        <p:txBody>
          <a:bodyPr/>
          <a:lstStyle/>
          <a:p>
            <a:r>
              <a:rPr lang="en-IN"/>
              <a:t>Ph.D. Viva Voce</a:t>
            </a:r>
          </a:p>
        </p:txBody>
      </p:sp>
      <p:sp>
        <p:nvSpPr>
          <p:cNvPr id="7" name="Slide Number Placeholder 6"/>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40719083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87906D5-6813-455D-BAA0-28A983958C32}" type="datetime3">
              <a:rPr lang="en-US" smtClean="0"/>
              <a:t>27 August 2026</a:t>
            </a:fld>
            <a:endParaRPr lang="en-IN"/>
          </a:p>
        </p:txBody>
      </p:sp>
      <p:sp>
        <p:nvSpPr>
          <p:cNvPr id="8" name="Footer Placeholder 7"/>
          <p:cNvSpPr>
            <a:spLocks noGrp="1"/>
          </p:cNvSpPr>
          <p:nvPr>
            <p:ph type="ftr" sz="quarter" idx="11"/>
          </p:nvPr>
        </p:nvSpPr>
        <p:spPr/>
        <p:txBody>
          <a:bodyPr/>
          <a:lstStyle/>
          <a:p>
            <a:r>
              <a:rPr lang="en-IN"/>
              <a:t>Ph.D. Viva Voce</a:t>
            </a:r>
          </a:p>
        </p:txBody>
      </p:sp>
      <p:sp>
        <p:nvSpPr>
          <p:cNvPr id="9" name="Slide Number Placeholder 8"/>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5784857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F4309C4-DF5F-4FAA-9214-A2117415D598}" type="datetime3">
              <a:rPr lang="en-US" smtClean="0"/>
              <a:t>27 August 2026</a:t>
            </a:fld>
            <a:endParaRPr lang="en-IN"/>
          </a:p>
        </p:txBody>
      </p:sp>
      <p:sp>
        <p:nvSpPr>
          <p:cNvPr id="4" name="Footer Placeholder 3"/>
          <p:cNvSpPr>
            <a:spLocks noGrp="1"/>
          </p:cNvSpPr>
          <p:nvPr>
            <p:ph type="ftr" sz="quarter" idx="11"/>
          </p:nvPr>
        </p:nvSpPr>
        <p:spPr/>
        <p:txBody>
          <a:bodyPr/>
          <a:lstStyle/>
          <a:p>
            <a:r>
              <a:rPr lang="en-IN"/>
              <a:t>Ph.D. Viva Voce</a:t>
            </a:r>
          </a:p>
        </p:txBody>
      </p:sp>
      <p:sp>
        <p:nvSpPr>
          <p:cNvPr id="5" name="Slide Number Placeholder 4"/>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37338849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683E30-D762-4164-BBF9-9799116ED611}" type="datetime3">
              <a:rPr lang="en-US" smtClean="0"/>
              <a:t>27 August 2026</a:t>
            </a:fld>
            <a:endParaRPr lang="en-IN"/>
          </a:p>
        </p:txBody>
      </p:sp>
      <p:sp>
        <p:nvSpPr>
          <p:cNvPr id="3" name="Footer Placeholder 2"/>
          <p:cNvSpPr>
            <a:spLocks noGrp="1"/>
          </p:cNvSpPr>
          <p:nvPr>
            <p:ph type="ftr" sz="quarter" idx="11"/>
          </p:nvPr>
        </p:nvSpPr>
        <p:spPr/>
        <p:txBody>
          <a:bodyPr/>
          <a:lstStyle/>
          <a:p>
            <a:r>
              <a:rPr lang="en-IN"/>
              <a:t>Ph.D. Viva Voce</a:t>
            </a:r>
          </a:p>
        </p:txBody>
      </p:sp>
      <p:sp>
        <p:nvSpPr>
          <p:cNvPr id="4" name="Slide Number Placeholder 3"/>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16718867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EEB4AA-F6FE-4EF1-9FE6-D5606E858D35}" type="datetime3">
              <a:rPr lang="en-US" smtClean="0"/>
              <a:t>27 August 2026</a:t>
            </a:fld>
            <a:endParaRPr lang="en-IN"/>
          </a:p>
        </p:txBody>
      </p:sp>
      <p:sp>
        <p:nvSpPr>
          <p:cNvPr id="6" name="Footer Placeholder 5"/>
          <p:cNvSpPr>
            <a:spLocks noGrp="1"/>
          </p:cNvSpPr>
          <p:nvPr>
            <p:ph type="ftr" sz="quarter" idx="11"/>
          </p:nvPr>
        </p:nvSpPr>
        <p:spPr/>
        <p:txBody>
          <a:bodyPr/>
          <a:lstStyle/>
          <a:p>
            <a:r>
              <a:rPr lang="en-IN"/>
              <a:t>Ph.D. Viva Voce</a:t>
            </a:r>
          </a:p>
        </p:txBody>
      </p:sp>
      <p:sp>
        <p:nvSpPr>
          <p:cNvPr id="7" name="Slide Number Placeholder 6"/>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40474917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7B547F9-D0DE-4919-BAA4-23065C38E70B}" type="datetime3">
              <a:rPr lang="en-US" smtClean="0"/>
              <a:t>27 August 2026</a:t>
            </a:fld>
            <a:endParaRPr lang="en-IN"/>
          </a:p>
        </p:txBody>
      </p:sp>
      <p:sp>
        <p:nvSpPr>
          <p:cNvPr id="6" name="Footer Placeholder 5"/>
          <p:cNvSpPr>
            <a:spLocks noGrp="1"/>
          </p:cNvSpPr>
          <p:nvPr>
            <p:ph type="ftr" sz="quarter" idx="11"/>
          </p:nvPr>
        </p:nvSpPr>
        <p:spPr/>
        <p:txBody>
          <a:bodyPr/>
          <a:lstStyle/>
          <a:p>
            <a:r>
              <a:rPr lang="en-IN"/>
              <a:t>Ph.D. Viva Voce</a:t>
            </a:r>
          </a:p>
        </p:txBody>
      </p:sp>
      <p:sp>
        <p:nvSpPr>
          <p:cNvPr id="7" name="Slide Number Placeholder 6"/>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10463319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30D9772-7494-4C65-A0D8-1FBD740B2E65}" type="datetime3">
              <a:rPr lang="en-US" smtClean="0"/>
              <a:t>27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33075840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BB089DC-0019-49C7-8AD2-EF5D896393D8}" type="datetime3">
              <a:rPr lang="en-US" smtClean="0"/>
              <a:t>27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42045954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711898-360B-AD49-DD62-FA3B7B6626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1A2BE89-A274-4461-2B81-5058744631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4B2A70-C1DC-D783-67E1-97822E79A5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227863A-4956-4659-9192-3D74DA4F7578}" type="datetimeFigureOut">
              <a:rPr lang="en-US" smtClean="0"/>
              <a:t>8/27/2026</a:t>
            </a:fld>
            <a:endParaRPr lang="en-US"/>
          </a:p>
        </p:txBody>
      </p:sp>
      <p:sp>
        <p:nvSpPr>
          <p:cNvPr id="5" name="Footer Placeholder 4">
            <a:extLst>
              <a:ext uri="{FF2B5EF4-FFF2-40B4-BE49-F238E27FC236}">
                <a16:creationId xmlns:a16="http://schemas.microsoft.com/office/drawing/2014/main" id="{08C5D01A-229C-E067-7B4E-BC254D65441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0741767-E51C-1DAB-E3C8-F047E87A83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639234F-78F1-4984-9C4D-D4C7AB587871}" type="slidenum">
              <a:rPr lang="en-US" smtClean="0"/>
              <a:t>‹#›</a:t>
            </a:fld>
            <a:endParaRPr lang="en-US"/>
          </a:p>
        </p:txBody>
      </p:sp>
    </p:spTree>
    <p:extLst>
      <p:ext uri="{BB962C8B-B14F-4D97-AF65-F5344CB8AC3E}">
        <p14:creationId xmlns:p14="http://schemas.microsoft.com/office/powerpoint/2010/main" val="16456373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E16266A-CA82-4709-A4C2-B8B2AD8F4816}" type="datetime3">
              <a:rPr lang="en-US" smtClean="0"/>
              <a:t>27 August 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Ph.D. Viva Voce</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AD1135-6E10-4422-AC8B-257B84239C9C}" type="slidenum">
              <a:rPr lang="en-IN" smtClean="0"/>
              <a:t>‹#›</a:t>
            </a:fld>
            <a:endParaRPr lang="en-IN"/>
          </a:p>
        </p:txBody>
      </p:sp>
    </p:spTree>
    <p:extLst>
      <p:ext uri="{BB962C8B-B14F-4D97-AF65-F5344CB8AC3E}">
        <p14:creationId xmlns:p14="http://schemas.microsoft.com/office/powerpoint/2010/main" val="291376645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hyperlink" Target="https://svgsilh.com/03a9f4/image/98809.html" TargetMode="External"/><Relationship Id="rId7" Type="http://schemas.openxmlformats.org/officeDocument/2006/relationships/diagramColors" Target="../diagrams/colors1.xml"/><Relationship Id="rId2" Type="http://schemas.openxmlformats.org/officeDocument/2006/relationships/image" Target="../media/image2.svg"/><Relationship Id="rId1" Type="http://schemas.openxmlformats.org/officeDocument/2006/relationships/slideLayout" Target="../slideLayouts/slideLayout18.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500C0830-A1CA-96AE-68D2-18C57ABE4802}"/>
              </a:ext>
            </a:extLst>
          </p:cNvPr>
          <p:cNvSpPr txBox="1"/>
          <p:nvPr/>
        </p:nvSpPr>
        <p:spPr>
          <a:xfrm>
            <a:off x="2995612" y="2868213"/>
            <a:ext cx="6200774" cy="184666"/>
          </a:xfrm>
          <a:prstGeom prst="rect">
            <a:avLst/>
          </a:prstGeom>
          <a:noFill/>
          <a:effectLst>
            <a:glow rad="139700">
              <a:schemeClr val="accent2">
                <a:satMod val="175000"/>
                <a:alpha val="40000"/>
              </a:schemeClr>
            </a:glow>
          </a:effectLst>
        </p:spPr>
        <p:txBody>
          <a:bodyPr wrap="square">
            <a:spAutoFit/>
          </a:bodyPr>
          <a:lstStyle/>
          <a:p>
            <a:pPr algn="ctr"/>
            <a:endParaRPr lang="en-IN" sz="600" dirty="0">
              <a:latin typeface="Times New Roman" panose="02020603050405020304" pitchFamily="18" charset="0"/>
              <a:cs typeface="Times New Roman" panose="02020603050405020304" pitchFamily="18" charset="0"/>
            </a:endParaRPr>
          </a:p>
        </p:txBody>
      </p:sp>
      <p:graphicFrame>
        <p:nvGraphicFramePr>
          <p:cNvPr id="18" name="Table 17">
            <a:extLst>
              <a:ext uri="{FF2B5EF4-FFF2-40B4-BE49-F238E27FC236}">
                <a16:creationId xmlns:a16="http://schemas.microsoft.com/office/drawing/2014/main" id="{BD22BC4D-4857-7D81-7819-37B7BB426420}"/>
              </a:ext>
            </a:extLst>
          </p:cNvPr>
          <p:cNvGraphicFramePr>
            <a:graphicFrameLocks noGrp="1"/>
          </p:cNvGraphicFramePr>
          <p:nvPr>
            <p:extLst>
              <p:ext uri="{D42A27DB-BD31-4B8C-83A1-F6EECF244321}">
                <p14:modId xmlns:p14="http://schemas.microsoft.com/office/powerpoint/2010/main" val="3523762682"/>
              </p:ext>
            </p:extLst>
          </p:nvPr>
        </p:nvGraphicFramePr>
        <p:xfrm>
          <a:off x="8193271" y="4898509"/>
          <a:ext cx="3702050" cy="822960"/>
        </p:xfrm>
        <a:graphic>
          <a:graphicData uri="http://schemas.openxmlformats.org/drawingml/2006/table">
            <a:tbl>
              <a:tblPr firstRow="1" bandRow="1">
                <a:tableStyleId>{5940675A-B579-460E-94D1-54222C63F5DA}</a:tableStyleId>
              </a:tblPr>
              <a:tblGrid>
                <a:gridCol w="3702050">
                  <a:extLst>
                    <a:ext uri="{9D8B030D-6E8A-4147-A177-3AD203B41FA5}">
                      <a16:colId xmlns:a16="http://schemas.microsoft.com/office/drawing/2014/main" val="40058472"/>
                    </a:ext>
                  </a:extLst>
                </a:gridCol>
              </a:tblGrid>
              <a:tr h="7523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b="1" dirty="0">
                          <a:solidFill>
                            <a:srgbClr val="C00000"/>
                          </a:solidFill>
                          <a:latin typeface="Times New Roman" panose="02020603050405020304" pitchFamily="18" charset="0"/>
                          <a:cs typeface="Times New Roman" panose="02020603050405020304" pitchFamily="18" charset="0"/>
                        </a:rPr>
                        <a:t>Team Members</a:t>
                      </a:r>
                    </a:p>
                    <a:p>
                      <a:pPr marL="0" algn="l" defTabSz="914400" rtl="0" eaLnBrk="1" latinLnBrk="0" hangingPunct="1"/>
                      <a:r>
                        <a:rPr lang="en-IN" sz="1600" b="1" kern="1200" dirty="0">
                          <a:solidFill>
                            <a:schemeClr val="dk1"/>
                          </a:solidFill>
                          <a:latin typeface="Times New Roman" panose="02020603050405020304" pitchFamily="18" charset="0"/>
                          <a:ea typeface="Cambria"/>
                          <a:cs typeface="Times New Roman" panose="02020603050405020304" pitchFamily="18" charset="0"/>
                        </a:rPr>
                        <a:t>Roopesh-2420030359</a:t>
                      </a:r>
                      <a:endParaRPr lang="en-IN" sz="1400" b="1" kern="1200" dirty="0">
                        <a:solidFill>
                          <a:schemeClr val="dk1"/>
                        </a:solidFill>
                        <a:latin typeface="Times New Roman" panose="02020603050405020304" pitchFamily="18" charset="0"/>
                        <a:ea typeface="Cambria"/>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IN" sz="1600" b="1" kern="1200" dirty="0">
                          <a:solidFill>
                            <a:schemeClr val="dk1"/>
                          </a:solidFill>
                          <a:latin typeface="Times New Roman" panose="02020603050405020304" pitchFamily="18" charset="0"/>
                          <a:ea typeface="Cambria"/>
                          <a:cs typeface="Times New Roman" panose="02020603050405020304" pitchFamily="18" charset="0"/>
                        </a:rPr>
                        <a:t>Rohan-2420030240</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08782725"/>
                  </a:ext>
                </a:extLst>
              </a:tr>
            </a:tbl>
          </a:graphicData>
        </a:graphic>
      </p:graphicFrame>
      <p:grpSp>
        <p:nvGrpSpPr>
          <p:cNvPr id="21" name="Group 20">
            <a:extLst>
              <a:ext uri="{FF2B5EF4-FFF2-40B4-BE49-F238E27FC236}">
                <a16:creationId xmlns:a16="http://schemas.microsoft.com/office/drawing/2014/main" id="{B5A8CA37-C090-A9D8-75D0-A7A7D5DEBE24}"/>
              </a:ext>
            </a:extLst>
          </p:cNvPr>
          <p:cNvGrpSpPr/>
          <p:nvPr/>
        </p:nvGrpSpPr>
        <p:grpSpPr>
          <a:xfrm>
            <a:off x="8038280" y="4765558"/>
            <a:ext cx="230240" cy="232995"/>
            <a:chOff x="1567861" y="1613059"/>
            <a:chExt cx="230240" cy="232995"/>
          </a:xfrm>
          <a:solidFill>
            <a:srgbClr val="FF66FF"/>
          </a:solidFill>
        </p:grpSpPr>
        <p:sp>
          <p:nvSpPr>
            <p:cNvPr id="22" name="Isosceles Triangle 21">
              <a:extLst>
                <a:ext uri="{FF2B5EF4-FFF2-40B4-BE49-F238E27FC236}">
                  <a16:creationId xmlns:a16="http://schemas.microsoft.com/office/drawing/2014/main" id="{E48399A6-AAB5-B502-9670-34E0FCDF5541}"/>
                </a:ext>
              </a:extLst>
            </p:cNvPr>
            <p:cNvSpPr/>
            <p:nvPr/>
          </p:nvSpPr>
          <p:spPr>
            <a:xfrm rot="8294948">
              <a:off x="1567861" y="1613059"/>
              <a:ext cx="160845" cy="232995"/>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highlight>
                  <a:srgbClr val="FFFF00"/>
                </a:highlight>
              </a:endParaRPr>
            </a:p>
          </p:txBody>
        </p:sp>
        <p:sp>
          <p:nvSpPr>
            <p:cNvPr id="23" name="Isosceles Triangle 22">
              <a:extLst>
                <a:ext uri="{FF2B5EF4-FFF2-40B4-BE49-F238E27FC236}">
                  <a16:creationId xmlns:a16="http://schemas.microsoft.com/office/drawing/2014/main" id="{67E59050-351C-0873-0298-AB77EA522C22}"/>
                </a:ext>
              </a:extLst>
            </p:cNvPr>
            <p:cNvSpPr/>
            <p:nvPr/>
          </p:nvSpPr>
          <p:spPr>
            <a:xfrm rot="11852143">
              <a:off x="1683856" y="1639371"/>
              <a:ext cx="114245" cy="153379"/>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graphicFrame>
        <p:nvGraphicFramePr>
          <p:cNvPr id="30" name="Table 29">
            <a:extLst>
              <a:ext uri="{FF2B5EF4-FFF2-40B4-BE49-F238E27FC236}">
                <a16:creationId xmlns:a16="http://schemas.microsoft.com/office/drawing/2014/main" id="{9091FADF-77DB-CB1D-CD72-56C53CF76308}"/>
              </a:ext>
            </a:extLst>
          </p:cNvPr>
          <p:cNvGraphicFramePr>
            <a:graphicFrameLocks noGrp="1"/>
          </p:cNvGraphicFramePr>
          <p:nvPr>
            <p:extLst>
              <p:ext uri="{D42A27DB-BD31-4B8C-83A1-F6EECF244321}">
                <p14:modId xmlns:p14="http://schemas.microsoft.com/office/powerpoint/2010/main" val="335759691"/>
              </p:ext>
            </p:extLst>
          </p:nvPr>
        </p:nvGraphicFramePr>
        <p:xfrm>
          <a:off x="-795813" y="4774125"/>
          <a:ext cx="5902325" cy="1332118"/>
        </p:xfrm>
        <a:graphic>
          <a:graphicData uri="http://schemas.openxmlformats.org/drawingml/2006/table">
            <a:tbl>
              <a:tblPr firstRow="1" bandRow="1">
                <a:tableStyleId>{5940675A-B579-460E-94D1-54222C63F5DA}</a:tableStyleId>
              </a:tblPr>
              <a:tblGrid>
                <a:gridCol w="1373565">
                  <a:extLst>
                    <a:ext uri="{9D8B030D-6E8A-4147-A177-3AD203B41FA5}">
                      <a16:colId xmlns:a16="http://schemas.microsoft.com/office/drawing/2014/main" val="40058472"/>
                    </a:ext>
                  </a:extLst>
                </a:gridCol>
                <a:gridCol w="4528760">
                  <a:extLst>
                    <a:ext uri="{9D8B030D-6E8A-4147-A177-3AD203B41FA5}">
                      <a16:colId xmlns:a16="http://schemas.microsoft.com/office/drawing/2014/main" val="1330242319"/>
                    </a:ext>
                  </a:extLst>
                </a:gridCol>
              </a:tblGrid>
              <a:tr h="1332118">
                <a:tc>
                  <a:txBody>
                    <a:bodyPr/>
                    <a:lstStyle/>
                    <a:p>
                      <a:endParaRPr lang="en-IN" dirty="0"/>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endParaRPr lang="en-IN" sz="500" b="1" dirty="0">
                        <a:solidFill>
                          <a:srgbClr val="C00000"/>
                        </a:solidFill>
                        <a:latin typeface="Times New Roman" panose="02020603050405020304" pitchFamily="18" charset="0"/>
                        <a:cs typeface="Times New Roman" panose="02020603050405020304" pitchFamily="18" charset="0"/>
                      </a:endParaRPr>
                    </a:p>
                    <a:p>
                      <a:r>
                        <a:rPr lang="en-IN" sz="1600" b="1" dirty="0">
                          <a:solidFill>
                            <a:srgbClr val="C00000"/>
                          </a:solidFill>
                          <a:latin typeface="Times New Roman" panose="02020603050405020304" pitchFamily="18" charset="0"/>
                          <a:cs typeface="Times New Roman" panose="02020603050405020304" pitchFamily="18" charset="0"/>
                        </a:rPr>
                        <a:t>Under the Guidance of</a:t>
                      </a:r>
                    </a:p>
                    <a:p>
                      <a:pPr marL="0" indent="0" algn="l">
                        <a:lnSpc>
                          <a:spcPct val="100000"/>
                        </a:lnSpc>
                        <a:spcBef>
                          <a:spcPts val="200"/>
                        </a:spcBef>
                        <a:buSzPts val="810"/>
                        <a:buNone/>
                      </a:pPr>
                      <a:r>
                        <a:rPr lang="en-US" sz="1400" b="1" dirty="0" err="1">
                          <a:solidFill>
                            <a:schemeClr val="dk1"/>
                          </a:solidFill>
                          <a:latin typeface="Times New Roman" panose="02020603050405020304" pitchFamily="18" charset="0"/>
                          <a:ea typeface="Cambria"/>
                          <a:cs typeface="Times New Roman" panose="02020603050405020304" pitchFamily="18" charset="0"/>
                          <a:sym typeface="Cambria"/>
                        </a:rPr>
                        <a:t>Dr.Navyatha</a:t>
                      </a:r>
                      <a:endParaRPr lang="en-US" sz="1400" b="1" dirty="0">
                        <a:solidFill>
                          <a:schemeClr val="dk1"/>
                        </a:solidFill>
                        <a:latin typeface="Times New Roman" panose="02020603050405020304" pitchFamily="18" charset="0"/>
                        <a:ea typeface="Cambria"/>
                        <a:cs typeface="Times New Roman" panose="02020603050405020304" pitchFamily="18" charset="0"/>
                        <a:sym typeface="Cambria"/>
                      </a:endParaRPr>
                    </a:p>
                    <a:p>
                      <a:pPr marL="0" indent="0" algn="l">
                        <a:lnSpc>
                          <a:spcPct val="100000"/>
                        </a:lnSpc>
                        <a:spcBef>
                          <a:spcPts val="200"/>
                        </a:spcBef>
                        <a:buSzPts val="810"/>
                        <a:buNone/>
                      </a:pPr>
                      <a:r>
                        <a:rPr lang="en-US" sz="1400" b="1" dirty="0">
                          <a:solidFill>
                            <a:schemeClr val="dk1"/>
                          </a:solidFill>
                          <a:latin typeface="Times New Roman" panose="02020603050405020304" pitchFamily="18" charset="0"/>
                          <a:ea typeface="Cambria"/>
                          <a:cs typeface="Times New Roman" panose="02020603050405020304" pitchFamily="18" charset="0"/>
                          <a:sym typeface="Cambria"/>
                        </a:rPr>
                        <a:t>Department of </a:t>
                      </a:r>
                      <a:r>
                        <a:rPr lang="en-US" sz="1400" b="1" dirty="0">
                          <a:solidFill>
                            <a:prstClr val="black"/>
                          </a:solidFill>
                          <a:latin typeface="Times New Roman" panose="02020603050405020304" pitchFamily="18" charset="0"/>
                          <a:ea typeface="Cambria"/>
                          <a:cs typeface="Times New Roman" panose="02020603050405020304" pitchFamily="18" charset="0"/>
                          <a:sym typeface="Cambria"/>
                        </a:rPr>
                        <a:t>Computer Science and Engineering, </a:t>
                      </a:r>
                    </a:p>
                    <a:p>
                      <a:pPr marL="0" indent="0" algn="l">
                        <a:lnSpc>
                          <a:spcPct val="100000"/>
                        </a:lnSpc>
                        <a:spcBef>
                          <a:spcPts val="200"/>
                        </a:spcBef>
                        <a:buSzPts val="810"/>
                        <a:buNone/>
                      </a:pPr>
                      <a:r>
                        <a:rPr lang="en-US" sz="1400" dirty="0">
                          <a:solidFill>
                            <a:schemeClr val="dk1"/>
                          </a:solidFill>
                          <a:latin typeface="Times New Roman" panose="02020603050405020304" pitchFamily="18" charset="0"/>
                          <a:ea typeface="Cambria"/>
                          <a:cs typeface="Times New Roman" panose="02020603050405020304" pitchFamily="18" charset="0"/>
                          <a:sym typeface="Cambria"/>
                        </a:rPr>
                        <a:t>KLH CSE Bowrampet Campus</a:t>
                      </a:r>
                      <a:endParaRPr lang="en-US" sz="1400" dirty="0">
                        <a:solidFill>
                          <a:schemeClr val="dk1"/>
                        </a:solidFill>
                        <a:latin typeface="Times New Roman" panose="02020603050405020304" pitchFamily="18" charset="0"/>
                        <a:ea typeface="Cambria"/>
                        <a:cs typeface="Times New Roman" panose="02020603050405020304" pitchFamily="18" charset="0"/>
                        <a:sym typeface="Arial"/>
                      </a:endParaRP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08782725"/>
                  </a:ext>
                </a:extLst>
              </a:tr>
            </a:tbl>
          </a:graphicData>
        </a:graphic>
      </p:graphicFrame>
      <p:grpSp>
        <p:nvGrpSpPr>
          <p:cNvPr id="31" name="Group 30">
            <a:extLst>
              <a:ext uri="{FF2B5EF4-FFF2-40B4-BE49-F238E27FC236}">
                <a16:creationId xmlns:a16="http://schemas.microsoft.com/office/drawing/2014/main" id="{8A67E7A6-1F33-FBD3-09B8-F35F17C8F890}"/>
              </a:ext>
            </a:extLst>
          </p:cNvPr>
          <p:cNvGrpSpPr/>
          <p:nvPr/>
        </p:nvGrpSpPr>
        <p:grpSpPr>
          <a:xfrm>
            <a:off x="442519" y="4562547"/>
            <a:ext cx="230240" cy="232995"/>
            <a:chOff x="1567861" y="1613059"/>
            <a:chExt cx="230240" cy="232995"/>
          </a:xfrm>
          <a:solidFill>
            <a:srgbClr val="00B0F0"/>
          </a:solidFill>
        </p:grpSpPr>
        <p:sp>
          <p:nvSpPr>
            <p:cNvPr id="32" name="Isosceles Triangle 31">
              <a:extLst>
                <a:ext uri="{FF2B5EF4-FFF2-40B4-BE49-F238E27FC236}">
                  <a16:creationId xmlns:a16="http://schemas.microsoft.com/office/drawing/2014/main" id="{FE269535-B3A3-75F2-310C-D43D8AC3F905}"/>
                </a:ext>
              </a:extLst>
            </p:cNvPr>
            <p:cNvSpPr/>
            <p:nvPr/>
          </p:nvSpPr>
          <p:spPr>
            <a:xfrm rot="8294948">
              <a:off x="1567861" y="1613059"/>
              <a:ext cx="160845" cy="232995"/>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highlight>
                  <a:srgbClr val="FFFF00"/>
                </a:highlight>
              </a:endParaRPr>
            </a:p>
          </p:txBody>
        </p:sp>
        <p:sp>
          <p:nvSpPr>
            <p:cNvPr id="33" name="Isosceles Triangle 32">
              <a:extLst>
                <a:ext uri="{FF2B5EF4-FFF2-40B4-BE49-F238E27FC236}">
                  <a16:creationId xmlns:a16="http://schemas.microsoft.com/office/drawing/2014/main" id="{FA8E9237-F9D3-FB94-D6EB-94D77AEFD506}"/>
                </a:ext>
              </a:extLst>
            </p:cNvPr>
            <p:cNvSpPr/>
            <p:nvPr/>
          </p:nvSpPr>
          <p:spPr>
            <a:xfrm rot="11852143">
              <a:off x="1683856" y="1639371"/>
              <a:ext cx="114245" cy="153379"/>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sp>
        <p:nvSpPr>
          <p:cNvPr id="34" name="Date Placeholder 33">
            <a:extLst>
              <a:ext uri="{FF2B5EF4-FFF2-40B4-BE49-F238E27FC236}">
                <a16:creationId xmlns:a16="http://schemas.microsoft.com/office/drawing/2014/main" id="{C1554CCE-4DF8-89E6-E0F6-3C2A1439C7FA}"/>
              </a:ext>
            </a:extLst>
          </p:cNvPr>
          <p:cNvSpPr>
            <a:spLocks noGrp="1"/>
          </p:cNvSpPr>
          <p:nvPr>
            <p:ph type="dt" sz="half" idx="10"/>
          </p:nvPr>
        </p:nvSpPr>
        <p:spPr/>
        <p:txBody>
          <a:bodyPr/>
          <a:lstStyle/>
          <a:p>
            <a:r>
              <a:rPr lang="en-US" b="1" dirty="0"/>
              <a:t>Date</a:t>
            </a:r>
            <a:endParaRPr lang="en-IN" b="1" dirty="0"/>
          </a:p>
        </p:txBody>
      </p:sp>
      <p:sp>
        <p:nvSpPr>
          <p:cNvPr id="35" name="Footer Placeholder 34">
            <a:extLst>
              <a:ext uri="{FF2B5EF4-FFF2-40B4-BE49-F238E27FC236}">
                <a16:creationId xmlns:a16="http://schemas.microsoft.com/office/drawing/2014/main" id="{8FB49AA0-2464-6225-6B6C-063F9A6ECD20}"/>
              </a:ext>
            </a:extLst>
          </p:cNvPr>
          <p:cNvSpPr>
            <a:spLocks noGrp="1"/>
          </p:cNvSpPr>
          <p:nvPr>
            <p:ph type="ftr" sz="quarter" idx="11"/>
          </p:nvPr>
        </p:nvSpPr>
        <p:spPr/>
        <p:txBody>
          <a:bodyPr/>
          <a:lstStyle/>
          <a:p>
            <a:r>
              <a:rPr lang="en-IN" b="1" dirty="0"/>
              <a:t>SOA Project Review-1</a:t>
            </a:r>
          </a:p>
        </p:txBody>
      </p:sp>
      <p:sp>
        <p:nvSpPr>
          <p:cNvPr id="36" name="Slide Number Placeholder 35">
            <a:extLst>
              <a:ext uri="{FF2B5EF4-FFF2-40B4-BE49-F238E27FC236}">
                <a16:creationId xmlns:a16="http://schemas.microsoft.com/office/drawing/2014/main" id="{28F834F9-83AA-E3F9-773A-4B7A83B345F7}"/>
              </a:ext>
            </a:extLst>
          </p:cNvPr>
          <p:cNvSpPr>
            <a:spLocks noGrp="1"/>
          </p:cNvSpPr>
          <p:nvPr>
            <p:ph type="sldNum" sz="quarter" idx="12"/>
          </p:nvPr>
        </p:nvSpPr>
        <p:spPr/>
        <p:txBody>
          <a:bodyPr/>
          <a:lstStyle/>
          <a:p>
            <a:fld id="{01AD1135-6E10-4422-AC8B-257B84239C9C}" type="slidenum">
              <a:rPr lang="en-IN" smtClean="0"/>
              <a:t>1</a:t>
            </a:fld>
            <a:endParaRPr lang="en-IN" dirty="0"/>
          </a:p>
        </p:txBody>
      </p:sp>
      <p:sp>
        <p:nvSpPr>
          <p:cNvPr id="4" name="Rectangle: Rounded Corners 3">
            <a:extLst>
              <a:ext uri="{FF2B5EF4-FFF2-40B4-BE49-F238E27FC236}">
                <a16:creationId xmlns:a16="http://schemas.microsoft.com/office/drawing/2014/main" id="{4EE5F681-D3B5-BC4B-8AA4-5688DCEEFB44}"/>
              </a:ext>
            </a:extLst>
          </p:cNvPr>
          <p:cNvSpPr/>
          <p:nvPr/>
        </p:nvSpPr>
        <p:spPr>
          <a:xfrm>
            <a:off x="638175" y="769267"/>
            <a:ext cx="10915650" cy="985640"/>
          </a:xfrm>
          <a:prstGeom prst="round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srgbClr val="C00000"/>
              </a:solidFill>
              <a:effectLst/>
              <a:uLnTx/>
              <a:uFillTx/>
              <a:latin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800" b="1" i="0" u="none" strike="noStrike" kern="1200" cap="none" spc="0" normalizeH="0" baseline="0" noProof="0" dirty="0">
              <a:ln>
                <a:noFill/>
              </a:ln>
              <a:solidFill>
                <a:schemeClr val="bg1"/>
              </a:solidFill>
              <a:effectLst/>
              <a:uLnTx/>
              <a:uFillTx/>
              <a:latin typeface="Times New Roman" panose="02020603050405020304" pitchFamily="18" charset="0"/>
              <a:cs typeface="Times New Roman" panose="02020603050405020304" pitchFamily="18" charset="0"/>
            </a:endParaRPr>
          </a:p>
          <a:p>
            <a:pPr algn="ctr"/>
            <a:endParaRPr lang="en-IN"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A4782FAE-AFAF-27B2-2591-CFAF7695BD03}"/>
              </a:ext>
            </a:extLst>
          </p:cNvPr>
          <p:cNvPicPr>
            <a:picLocks noChangeAspect="1"/>
          </p:cNvPicPr>
          <p:nvPr/>
        </p:nvPicPr>
        <p:blipFill>
          <a:blip r:embed="rId3"/>
          <a:stretch>
            <a:fillRect/>
          </a:stretch>
        </p:blipFill>
        <p:spPr>
          <a:xfrm>
            <a:off x="10249380" y="0"/>
            <a:ext cx="1942620" cy="622550"/>
          </a:xfrm>
          <a:prstGeom prst="rect">
            <a:avLst/>
          </a:prstGeom>
        </p:spPr>
      </p:pic>
      <p:sp>
        <p:nvSpPr>
          <p:cNvPr id="14" name="TextBox 13">
            <a:extLst>
              <a:ext uri="{FF2B5EF4-FFF2-40B4-BE49-F238E27FC236}">
                <a16:creationId xmlns:a16="http://schemas.microsoft.com/office/drawing/2014/main" id="{DD4CF64F-3FB6-0CE4-B778-63C5D5A1D343}"/>
              </a:ext>
            </a:extLst>
          </p:cNvPr>
          <p:cNvSpPr txBox="1"/>
          <p:nvPr/>
        </p:nvSpPr>
        <p:spPr>
          <a:xfrm>
            <a:off x="738187" y="810857"/>
            <a:ext cx="10715625" cy="707886"/>
          </a:xfrm>
          <a:prstGeom prst="rect">
            <a:avLst/>
          </a:prstGeom>
          <a:noFill/>
        </p:spPr>
        <p:txBody>
          <a:bodyPr wrap="square">
            <a:spAutoFit/>
          </a:bodyPr>
          <a:lstStyle/>
          <a:p>
            <a:pPr lvl="0" algn="ctr">
              <a:defRPr/>
            </a:pPr>
            <a:r>
              <a:rPr lang="en-IN" sz="4000" b="1" dirty="0">
                <a:solidFill>
                  <a:schemeClr val="bg1"/>
                </a:solidFill>
              </a:rPr>
              <a:t>Online Quiz System</a:t>
            </a:r>
            <a:endParaRPr kumimoji="0" lang="en-US" sz="4800" b="1" i="0" u="none" strike="noStrike" kern="1200" cap="none" spc="0" normalizeH="0" baseline="0" noProof="0" dirty="0">
              <a:ln>
                <a:noFill/>
              </a:ln>
              <a:solidFill>
                <a:schemeClr val="bg1"/>
              </a:solidFill>
              <a:effectLst/>
              <a:uLnTx/>
              <a:uFillTx/>
              <a:latin typeface="Calibri" panose="020F0502020204030204"/>
              <a:ea typeface="+mn-ea"/>
              <a:cs typeface="Poppins" pitchFamily="2" charset="77"/>
            </a:endParaRPr>
          </a:p>
        </p:txBody>
      </p:sp>
      <p:sp>
        <p:nvSpPr>
          <p:cNvPr id="17" name="TextBox 16">
            <a:extLst>
              <a:ext uri="{FF2B5EF4-FFF2-40B4-BE49-F238E27FC236}">
                <a16:creationId xmlns:a16="http://schemas.microsoft.com/office/drawing/2014/main" id="{D25BC1A0-FDE4-1557-375E-6E0BD69BC77B}"/>
              </a:ext>
            </a:extLst>
          </p:cNvPr>
          <p:cNvSpPr txBox="1"/>
          <p:nvPr/>
        </p:nvSpPr>
        <p:spPr>
          <a:xfrm>
            <a:off x="738187" y="2246806"/>
            <a:ext cx="10715625" cy="584775"/>
          </a:xfrm>
          <a:prstGeom prst="rect">
            <a:avLst/>
          </a:prstGeom>
          <a:noFill/>
        </p:spPr>
        <p:txBody>
          <a:bodyPr wrap="square">
            <a:spAutoFit/>
          </a:bodyPr>
          <a:lstStyle/>
          <a:p>
            <a:pPr lvl="0" algn="ctr">
              <a:defRPr/>
            </a:pPr>
            <a:r>
              <a:rPr lang="en-IN" sz="3200" b="1" dirty="0">
                <a:latin typeface="Times New Roman" panose="02020603050405020304" pitchFamily="18" charset="0"/>
                <a:cs typeface="Times New Roman" panose="02020603050405020304" pitchFamily="18" charset="0"/>
              </a:rPr>
              <a:t>SOA Project Review-1</a:t>
            </a:r>
          </a:p>
        </p:txBody>
      </p:sp>
    </p:spTree>
    <p:extLst>
      <p:ext uri="{BB962C8B-B14F-4D97-AF65-F5344CB8AC3E}">
        <p14:creationId xmlns:p14="http://schemas.microsoft.com/office/powerpoint/2010/main" val="2247602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420A00F-144B-157D-A12F-7CF90703CA18}"/>
              </a:ext>
            </a:extLst>
          </p:cNvPr>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A3A418F-4DEE-4BB1-940B-1145D135750E}" type="slidenum">
              <a:rPr kumimoji="0" lang="en-IN"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n-IN"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9797C6D7-F4DC-4908-B610-D10EE43A9B41}"/>
              </a:ext>
            </a:extLst>
          </p:cNvPr>
          <p:cNvSpPr txBox="1"/>
          <p:nvPr/>
        </p:nvSpPr>
        <p:spPr>
          <a:xfrm>
            <a:off x="3020906" y="173546"/>
            <a:ext cx="5854242" cy="646331"/>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IN" sz="3600" b="1" i="0" u="none" strike="noStrike" kern="1200" cap="none" spc="0" normalizeH="0" baseline="0" noProof="0" dirty="0">
                <a:ln w="0"/>
                <a:solidFill>
                  <a:srgbClr val="4472C4"/>
                </a:solidFill>
                <a:effectLst/>
                <a:uLnTx/>
                <a:uFillTx/>
                <a:latin typeface="Times New Roman" panose="02020603050405020304" pitchFamily="18" charset="0"/>
                <a:ea typeface="Cambria"/>
                <a:cs typeface="Times New Roman" panose="02020603050405020304" pitchFamily="18" charset="0"/>
              </a:rPr>
              <a:t>Outline of Project Work</a:t>
            </a:r>
          </a:p>
        </p:txBody>
      </p:sp>
      <p:grpSp>
        <p:nvGrpSpPr>
          <p:cNvPr id="8" name="Group 7">
            <a:extLst>
              <a:ext uri="{FF2B5EF4-FFF2-40B4-BE49-F238E27FC236}">
                <a16:creationId xmlns:a16="http://schemas.microsoft.com/office/drawing/2014/main" id="{B25CDE63-8DDC-4AC4-7713-9D89D6D0F4B1}"/>
              </a:ext>
            </a:extLst>
          </p:cNvPr>
          <p:cNvGrpSpPr/>
          <p:nvPr/>
        </p:nvGrpSpPr>
        <p:grpSpPr>
          <a:xfrm>
            <a:off x="2036680" y="1241830"/>
            <a:ext cx="6545216" cy="3817469"/>
            <a:chOff x="2140155" y="1721293"/>
            <a:chExt cx="6545216" cy="3817469"/>
          </a:xfrm>
        </p:grpSpPr>
        <p:sp>
          <p:nvSpPr>
            <p:cNvPr id="16" name="TextBox 15">
              <a:extLst>
                <a:ext uri="{FF2B5EF4-FFF2-40B4-BE49-F238E27FC236}">
                  <a16:creationId xmlns:a16="http://schemas.microsoft.com/office/drawing/2014/main" id="{C0A4CA55-824E-91B2-D5F9-032778D4B8B3}"/>
                </a:ext>
              </a:extLst>
            </p:cNvPr>
            <p:cNvSpPr txBox="1"/>
            <p:nvPr/>
          </p:nvSpPr>
          <p:spPr>
            <a:xfrm>
              <a:off x="2253060" y="2629888"/>
              <a:ext cx="4267376" cy="400110"/>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lvl="0" indent="-342900" defTabSz="457200">
                <a:buSzPts val="2520"/>
                <a:buFont typeface="Arial" panose="020B0604020202020204" pitchFamily="34" charset="0"/>
                <a:buChar char="•"/>
                <a:tabLst>
                  <a:tab pos="444500" algn="l"/>
                </a:tabLst>
                <a:defRPr/>
              </a:pPr>
              <a:r>
                <a:rPr lang="en-IN" sz="2000" dirty="0">
                  <a:solidFill>
                    <a:schemeClr val="bg1"/>
                  </a:solidFill>
                </a:rPr>
                <a:t>Problem Statement</a:t>
              </a:r>
              <a:endParaRPr kumimoji="0" lang="en-US" sz="2000" b="1" i="0" u="none" strike="noStrike" kern="1200" cap="none" spc="0" normalizeH="0" baseline="0" noProof="0" dirty="0">
                <a:ln>
                  <a:noFill/>
                </a:ln>
                <a:solidFill>
                  <a:schemeClr val="bg1"/>
                </a:solidFill>
                <a:effectLst/>
                <a:uLnTx/>
                <a:uFillTx/>
                <a:latin typeface="Times New Roman" pitchFamily="18" charset="0"/>
                <a:ea typeface="Calibri"/>
                <a:cs typeface="Times New Roman" pitchFamily="18" charset="0"/>
                <a:sym typeface="Calibri"/>
              </a:endParaRPr>
            </a:p>
          </p:txBody>
        </p:sp>
        <p:sp>
          <p:nvSpPr>
            <p:cNvPr id="18" name="TextBox 17">
              <a:extLst>
                <a:ext uri="{FF2B5EF4-FFF2-40B4-BE49-F238E27FC236}">
                  <a16:creationId xmlns:a16="http://schemas.microsoft.com/office/drawing/2014/main" id="{EE7E17B2-5AF8-C463-91C3-5B87FC773369}"/>
                </a:ext>
              </a:extLst>
            </p:cNvPr>
            <p:cNvSpPr txBox="1"/>
            <p:nvPr/>
          </p:nvSpPr>
          <p:spPr>
            <a:xfrm>
              <a:off x="2474623" y="3020489"/>
              <a:ext cx="4374693" cy="369332"/>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lvl="0" indent="-342900" defTabSz="457200">
                <a:buSzPts val="2520"/>
                <a:buFont typeface="Arial" panose="020B0604020202020204" pitchFamily="34" charset="0"/>
                <a:buChar char="•"/>
                <a:tabLst>
                  <a:tab pos="444500" algn="l"/>
                </a:tabLst>
                <a:defRPr/>
              </a:pPr>
              <a:r>
                <a:rPr lang="en-IN" dirty="0">
                  <a:solidFill>
                    <a:schemeClr val="bg1"/>
                  </a:solidFill>
                </a:rPr>
                <a:t>Objectives</a:t>
              </a:r>
              <a:endParaRPr kumimoji="0" lang="en-US" sz="1800" b="1" i="0" u="none" strike="noStrike" kern="1200" cap="none" spc="0" normalizeH="0" baseline="0" noProof="0" dirty="0">
                <a:ln>
                  <a:noFill/>
                </a:ln>
                <a:solidFill>
                  <a:schemeClr val="bg1"/>
                </a:solidFill>
                <a:effectLst/>
                <a:uLnTx/>
                <a:uFillTx/>
                <a:latin typeface="Times New Roman" pitchFamily="18" charset="0"/>
                <a:ea typeface="Calibri"/>
                <a:cs typeface="Times New Roman" pitchFamily="18" charset="0"/>
                <a:sym typeface="Calibri"/>
              </a:endParaRPr>
            </a:p>
          </p:txBody>
        </p:sp>
        <p:sp>
          <p:nvSpPr>
            <p:cNvPr id="20" name="TextBox 19">
              <a:extLst>
                <a:ext uri="{FF2B5EF4-FFF2-40B4-BE49-F238E27FC236}">
                  <a16:creationId xmlns:a16="http://schemas.microsoft.com/office/drawing/2014/main" id="{6D160BA9-A291-1BA5-C03E-7218C2169C28}"/>
                </a:ext>
              </a:extLst>
            </p:cNvPr>
            <p:cNvSpPr txBox="1"/>
            <p:nvPr/>
          </p:nvSpPr>
          <p:spPr>
            <a:xfrm>
              <a:off x="2928302" y="3875648"/>
              <a:ext cx="4529560" cy="369332"/>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lvl="0" indent="-342900" defTabSz="457200">
                <a:spcBef>
                  <a:spcPts val="504"/>
                </a:spcBef>
                <a:buSzPts val="2520"/>
                <a:buFont typeface="Arial" panose="020B0604020202020204" pitchFamily="34" charset="0"/>
                <a:buChar char="•"/>
                <a:tabLst>
                  <a:tab pos="444500" algn="l"/>
                </a:tabLst>
                <a:defRPr/>
              </a:pPr>
              <a:r>
                <a:rPr lang="en-IN" dirty="0">
                  <a:solidFill>
                    <a:schemeClr val="bg1"/>
                  </a:solidFill>
                </a:rPr>
                <a:t>Problem Gap Identification</a:t>
              </a:r>
              <a:endParaRPr kumimoji="0" lang="en-US" sz="1800" b="1" i="0" u="none" strike="noStrike" kern="1200" cap="none" spc="0" normalizeH="0" baseline="0" noProof="0" dirty="0">
                <a:ln>
                  <a:noFill/>
                </a:ln>
                <a:solidFill>
                  <a:schemeClr val="bg1"/>
                </a:solidFill>
                <a:effectLst/>
                <a:uLnTx/>
                <a:uFillTx/>
                <a:latin typeface="Times New Roman" pitchFamily="18" charset="0"/>
                <a:ea typeface="Calibri"/>
                <a:cs typeface="Times New Roman" pitchFamily="18" charset="0"/>
                <a:sym typeface="Calibri"/>
              </a:endParaRPr>
            </a:p>
          </p:txBody>
        </p:sp>
        <p:sp>
          <p:nvSpPr>
            <p:cNvPr id="22" name="TextBox 21">
              <a:extLst>
                <a:ext uri="{FF2B5EF4-FFF2-40B4-BE49-F238E27FC236}">
                  <a16:creationId xmlns:a16="http://schemas.microsoft.com/office/drawing/2014/main" id="{6C792DA3-F484-948A-E346-F158FE24CE3F}"/>
                </a:ext>
              </a:extLst>
            </p:cNvPr>
            <p:cNvSpPr txBox="1"/>
            <p:nvPr/>
          </p:nvSpPr>
          <p:spPr>
            <a:xfrm>
              <a:off x="3224747" y="4225368"/>
              <a:ext cx="4774676" cy="677108"/>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lvl="0" indent="-342900" defTabSz="457200">
                <a:spcBef>
                  <a:spcPts val="504"/>
                </a:spcBef>
                <a:buSzPts val="2520"/>
                <a:buFont typeface="Arial" panose="020B0604020202020204" pitchFamily="34" charset="0"/>
                <a:buChar char="•"/>
                <a:tabLst>
                  <a:tab pos="444500" algn="l"/>
                </a:tabLst>
                <a:defRPr/>
              </a:pPr>
              <a:r>
                <a:rPr lang="en-IN" sz="2000" dirty="0">
                  <a:solidFill>
                    <a:schemeClr val="bg1"/>
                  </a:solidFill>
                </a:rPr>
                <a:t>Innovation, Creativity &amp; Novelty</a:t>
              </a:r>
              <a:br>
                <a:rPr kumimoji="0" lang="en-US" sz="1800" b="1" i="0" u="none" strike="noStrike" kern="1200" cap="none" spc="0" normalizeH="0" baseline="0" noProof="0" dirty="0">
                  <a:ln>
                    <a:noFill/>
                  </a:ln>
                  <a:solidFill>
                    <a:schemeClr val="bg1"/>
                  </a:solidFill>
                  <a:effectLst/>
                  <a:uLnTx/>
                  <a:uFillTx/>
                  <a:latin typeface="Times New Roman" pitchFamily="18" charset="0"/>
                  <a:ea typeface="Calibri"/>
                  <a:cs typeface="Times New Roman" pitchFamily="18" charset="0"/>
                  <a:sym typeface="Calibri"/>
                </a:rPr>
              </a:br>
              <a:endParaRPr kumimoji="0" lang="en-US" sz="1800" b="1" i="0" u="none" strike="noStrike" kern="1200" cap="none" spc="0" normalizeH="0" baseline="0" noProof="0" dirty="0">
                <a:ln>
                  <a:noFill/>
                </a:ln>
                <a:solidFill>
                  <a:schemeClr val="bg1"/>
                </a:solidFill>
                <a:effectLst/>
                <a:uLnTx/>
                <a:uFillTx/>
                <a:latin typeface="Times New Roman" pitchFamily="18" charset="0"/>
                <a:ea typeface="Calibri"/>
                <a:cs typeface="Times New Roman" pitchFamily="18" charset="0"/>
                <a:sym typeface="Calibri"/>
              </a:endParaRPr>
            </a:p>
          </p:txBody>
        </p:sp>
        <p:sp>
          <p:nvSpPr>
            <p:cNvPr id="24" name="TextBox 23">
              <a:extLst>
                <a:ext uri="{FF2B5EF4-FFF2-40B4-BE49-F238E27FC236}">
                  <a16:creationId xmlns:a16="http://schemas.microsoft.com/office/drawing/2014/main" id="{957E2443-43F4-3FA3-6C83-796D6B456220}"/>
                </a:ext>
              </a:extLst>
            </p:cNvPr>
            <p:cNvSpPr txBox="1"/>
            <p:nvPr/>
          </p:nvSpPr>
          <p:spPr>
            <a:xfrm>
              <a:off x="3408279" y="4865265"/>
              <a:ext cx="4891526" cy="369332"/>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lvl="0" indent="-342900" defTabSz="457200">
                <a:spcBef>
                  <a:spcPts val="504"/>
                </a:spcBef>
                <a:buSzPts val="2520"/>
                <a:buFont typeface="Arial" panose="020B0604020202020204" pitchFamily="34" charset="0"/>
                <a:buChar char="•"/>
                <a:tabLst>
                  <a:tab pos="444500" algn="l"/>
                </a:tabLst>
                <a:defRPr/>
              </a:pPr>
              <a:r>
                <a:rPr lang="en-IN" dirty="0">
                  <a:solidFill>
                    <a:schemeClr val="bg1"/>
                  </a:solidFill>
                </a:rPr>
                <a:t>Feasibility &amp; Project Plan</a:t>
              </a:r>
              <a:endParaRPr kumimoji="0" lang="en-US" sz="100" b="1" i="0" u="none" strike="noStrike" kern="1200" cap="none" spc="0" normalizeH="0" baseline="0" noProof="0" dirty="0">
                <a:ln>
                  <a:noFill/>
                </a:ln>
                <a:solidFill>
                  <a:schemeClr val="bg1"/>
                </a:solidFill>
                <a:effectLst/>
                <a:uLnTx/>
                <a:uFillTx/>
                <a:latin typeface="Times New Roman" pitchFamily="18" charset="0"/>
                <a:ea typeface="Calibri"/>
                <a:cs typeface="Times New Roman" pitchFamily="18" charset="0"/>
                <a:sym typeface="Calibri"/>
              </a:endParaRPr>
            </a:p>
          </p:txBody>
        </p:sp>
        <p:pic>
          <p:nvPicPr>
            <p:cNvPr id="7" name="Graphic 6">
              <a:extLst>
                <a:ext uri="{FF2B5EF4-FFF2-40B4-BE49-F238E27FC236}">
                  <a16:creationId xmlns:a16="http://schemas.microsoft.com/office/drawing/2014/main" id="{FEE87FCF-6A51-9005-163C-5E3B5C1257B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8229530" y="5002476"/>
              <a:ext cx="455841" cy="536286"/>
            </a:xfrm>
            <a:prstGeom prst="rect">
              <a:avLst/>
            </a:prstGeom>
          </p:spPr>
        </p:pic>
        <p:sp>
          <p:nvSpPr>
            <p:cNvPr id="31" name="Content Placeholder 11">
              <a:extLst>
                <a:ext uri="{FF2B5EF4-FFF2-40B4-BE49-F238E27FC236}">
                  <a16:creationId xmlns:a16="http://schemas.microsoft.com/office/drawing/2014/main" id="{4D713724-2EA7-CA04-47B9-F63B3DAC496D}"/>
                </a:ext>
              </a:extLst>
            </p:cNvPr>
            <p:cNvSpPr txBox="1">
              <a:spLocks/>
            </p:cNvSpPr>
            <p:nvPr/>
          </p:nvSpPr>
          <p:spPr>
            <a:xfrm>
              <a:off x="2140155" y="1964321"/>
              <a:ext cx="3886200" cy="666229"/>
            </a:xfrm>
            <a:prstGeom prst="rect">
              <a:avLst/>
            </a:prstGeom>
            <a:solidFill>
              <a:schemeClr val="tx1">
                <a:lumMod val="75000"/>
                <a:lumOff val="25000"/>
              </a:schemeClr>
            </a:solidFill>
            <a:ln w="19050" cap="flat" cmpd="sng" algn="ctr">
              <a:solidFill>
                <a:schemeClr val="accent4"/>
              </a:solidFill>
              <a:prstDash val="solid"/>
              <a:miter lim="800000"/>
            </a:ln>
          </p:spPr>
          <p:style>
            <a:lnRef idx="1">
              <a:schemeClr val="accent2"/>
            </a:lnRef>
            <a:fillRef idx="2">
              <a:schemeClr val="accent2"/>
            </a:fillRef>
            <a:effectRef idx="1">
              <a:schemeClr val="accent2"/>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Introduction</a:t>
              </a: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24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pic>
          <p:nvPicPr>
            <p:cNvPr id="36" name="Graphic 35">
              <a:extLst>
                <a:ext uri="{FF2B5EF4-FFF2-40B4-BE49-F238E27FC236}">
                  <a16:creationId xmlns:a16="http://schemas.microsoft.com/office/drawing/2014/main" id="{55B3B570-3194-94D5-869B-2F3E3E133BA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7683523" y="4358877"/>
              <a:ext cx="455841" cy="536286"/>
            </a:xfrm>
            <a:prstGeom prst="rect">
              <a:avLst/>
            </a:prstGeom>
          </p:spPr>
        </p:pic>
        <p:pic>
          <p:nvPicPr>
            <p:cNvPr id="37" name="Graphic 36">
              <a:extLst>
                <a:ext uri="{FF2B5EF4-FFF2-40B4-BE49-F238E27FC236}">
                  <a16:creationId xmlns:a16="http://schemas.microsoft.com/office/drawing/2014/main" id="{A01B3509-5090-7764-12FF-0CDB13E360A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7229942" y="3813495"/>
              <a:ext cx="455841" cy="536286"/>
            </a:xfrm>
            <a:prstGeom prst="rect">
              <a:avLst/>
            </a:prstGeom>
          </p:spPr>
        </p:pic>
        <p:pic>
          <p:nvPicPr>
            <p:cNvPr id="38" name="Graphic 37">
              <a:extLst>
                <a:ext uri="{FF2B5EF4-FFF2-40B4-BE49-F238E27FC236}">
                  <a16:creationId xmlns:a16="http://schemas.microsoft.com/office/drawing/2014/main" id="{4A5FDD7E-5A46-92A5-C963-19E091BBF72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6863353" y="3200501"/>
              <a:ext cx="455841" cy="536286"/>
            </a:xfrm>
            <a:prstGeom prst="rect">
              <a:avLst/>
            </a:prstGeom>
          </p:spPr>
        </p:pic>
        <p:pic>
          <p:nvPicPr>
            <p:cNvPr id="39" name="Graphic 38">
              <a:extLst>
                <a:ext uri="{FF2B5EF4-FFF2-40B4-BE49-F238E27FC236}">
                  <a16:creationId xmlns:a16="http://schemas.microsoft.com/office/drawing/2014/main" id="{C50C5009-E2F0-E358-4C45-CAEADDEC93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6443196" y="2766955"/>
              <a:ext cx="455841" cy="536286"/>
            </a:xfrm>
            <a:prstGeom prst="rect">
              <a:avLst/>
            </a:prstGeom>
          </p:spPr>
        </p:pic>
        <p:pic>
          <p:nvPicPr>
            <p:cNvPr id="40" name="Graphic 39">
              <a:extLst>
                <a:ext uri="{FF2B5EF4-FFF2-40B4-BE49-F238E27FC236}">
                  <a16:creationId xmlns:a16="http://schemas.microsoft.com/office/drawing/2014/main" id="{F1D91F2F-C2FB-3146-467B-21A20C8410D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6040392" y="2252522"/>
              <a:ext cx="455841" cy="536286"/>
            </a:xfrm>
            <a:prstGeom prst="rect">
              <a:avLst/>
            </a:prstGeom>
          </p:spPr>
        </p:pic>
        <p:pic>
          <p:nvPicPr>
            <p:cNvPr id="41" name="Graphic 40">
              <a:extLst>
                <a:ext uri="{FF2B5EF4-FFF2-40B4-BE49-F238E27FC236}">
                  <a16:creationId xmlns:a16="http://schemas.microsoft.com/office/drawing/2014/main" id="{7B0FD951-BFA0-1228-E572-2BFE866AEE7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5626122" y="1721293"/>
              <a:ext cx="455841" cy="536286"/>
            </a:xfrm>
            <a:prstGeom prst="rect">
              <a:avLst/>
            </a:prstGeom>
          </p:spPr>
        </p:pic>
        <p:sp>
          <p:nvSpPr>
            <p:cNvPr id="14" name="TextBox 13">
              <a:extLst>
                <a:ext uri="{FF2B5EF4-FFF2-40B4-BE49-F238E27FC236}">
                  <a16:creationId xmlns:a16="http://schemas.microsoft.com/office/drawing/2014/main" id="{576F380C-3238-E430-3C22-3C23884CE532}"/>
                </a:ext>
              </a:extLst>
            </p:cNvPr>
            <p:cNvSpPr txBox="1"/>
            <p:nvPr/>
          </p:nvSpPr>
          <p:spPr>
            <a:xfrm>
              <a:off x="2758099" y="3384947"/>
              <a:ext cx="4004225" cy="506870"/>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4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Literature Survey</a:t>
              </a:r>
              <a:endParaRPr kumimoji="0" lang="en-US" sz="204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grpSp>
      <p:graphicFrame>
        <p:nvGraphicFramePr>
          <p:cNvPr id="26" name="Diagram 25">
            <a:extLst>
              <a:ext uri="{FF2B5EF4-FFF2-40B4-BE49-F238E27FC236}">
                <a16:creationId xmlns:a16="http://schemas.microsoft.com/office/drawing/2014/main" id="{C044B753-17EC-8A45-927F-C44CC40ED5BA}"/>
              </a:ext>
            </a:extLst>
          </p:cNvPr>
          <p:cNvGraphicFramePr/>
          <p:nvPr/>
        </p:nvGraphicFramePr>
        <p:xfrm>
          <a:off x="41510" y="115414"/>
          <a:ext cx="1474694" cy="94234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10" name="Picture 9">
            <a:extLst>
              <a:ext uri="{FF2B5EF4-FFF2-40B4-BE49-F238E27FC236}">
                <a16:creationId xmlns:a16="http://schemas.microsoft.com/office/drawing/2014/main" id="{0B4D1914-919F-D842-1FC2-1BBFC0E95C24}"/>
              </a:ext>
            </a:extLst>
          </p:cNvPr>
          <p:cNvPicPr>
            <a:picLocks noChangeAspect="1"/>
          </p:cNvPicPr>
          <p:nvPr/>
        </p:nvPicPr>
        <p:blipFill>
          <a:blip r:embed="rId9"/>
          <a:stretch>
            <a:fillRect/>
          </a:stretch>
        </p:blipFill>
        <p:spPr>
          <a:xfrm>
            <a:off x="10249380" y="0"/>
            <a:ext cx="1901110" cy="622550"/>
          </a:xfrm>
          <a:prstGeom prst="rect">
            <a:avLst/>
          </a:prstGeom>
        </p:spPr>
      </p:pic>
    </p:spTree>
    <p:extLst>
      <p:ext uri="{BB962C8B-B14F-4D97-AF65-F5344CB8AC3E}">
        <p14:creationId xmlns:p14="http://schemas.microsoft.com/office/powerpoint/2010/main" val="27479694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C8F81-5402-FBBE-D32A-834F3C60336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DBD4C9C-9DEB-26F4-AA75-F51C06DD64DC}"/>
              </a:ext>
            </a:extLst>
          </p:cNvPr>
          <p:cNvSpPr txBox="1"/>
          <p:nvPr/>
        </p:nvSpPr>
        <p:spPr>
          <a:xfrm>
            <a:off x="3991897" y="482232"/>
            <a:ext cx="6096000" cy="646331"/>
          </a:xfrm>
          <a:prstGeom prst="rect">
            <a:avLst/>
          </a:prstGeom>
          <a:noFill/>
        </p:spPr>
        <p:txBody>
          <a:bodyPr wrap="square">
            <a:spAutoFit/>
          </a:bodyPr>
          <a:lstStyle/>
          <a:p>
            <a:r>
              <a:rPr lang="en-US" sz="3600" b="1" dirty="0"/>
              <a:t>Problem Statement</a:t>
            </a:r>
          </a:p>
        </p:txBody>
      </p:sp>
      <p:pic>
        <p:nvPicPr>
          <p:cNvPr id="3" name="Picture 2">
            <a:extLst>
              <a:ext uri="{FF2B5EF4-FFF2-40B4-BE49-F238E27FC236}">
                <a16:creationId xmlns:a16="http://schemas.microsoft.com/office/drawing/2014/main" id="{17A614DC-364B-1BD9-B452-BC2E55FD9D04}"/>
              </a:ext>
            </a:extLst>
          </p:cNvPr>
          <p:cNvPicPr>
            <a:picLocks noChangeAspect="1"/>
          </p:cNvPicPr>
          <p:nvPr/>
        </p:nvPicPr>
        <p:blipFill>
          <a:blip r:embed="rId2"/>
          <a:stretch>
            <a:fillRect/>
          </a:stretch>
        </p:blipFill>
        <p:spPr>
          <a:xfrm>
            <a:off x="10249380" y="0"/>
            <a:ext cx="1942620" cy="622550"/>
          </a:xfrm>
          <a:prstGeom prst="rect">
            <a:avLst/>
          </a:prstGeom>
        </p:spPr>
      </p:pic>
      <p:sp>
        <p:nvSpPr>
          <p:cNvPr id="4" name="TextBox 3">
            <a:extLst>
              <a:ext uri="{FF2B5EF4-FFF2-40B4-BE49-F238E27FC236}">
                <a16:creationId xmlns:a16="http://schemas.microsoft.com/office/drawing/2014/main" id="{BB2575E6-DD65-5734-D021-73904A0AAEA2}"/>
              </a:ext>
            </a:extLst>
          </p:cNvPr>
          <p:cNvSpPr txBox="1"/>
          <p:nvPr/>
        </p:nvSpPr>
        <p:spPr>
          <a:xfrm>
            <a:off x="1253067" y="1845735"/>
            <a:ext cx="9956800" cy="1477328"/>
          </a:xfrm>
          <a:prstGeom prst="rect">
            <a:avLst/>
          </a:prstGeom>
          <a:noFill/>
        </p:spPr>
        <p:txBody>
          <a:bodyPr wrap="square">
            <a:spAutoFit/>
          </a:bodyPr>
          <a:lstStyle/>
          <a:p>
            <a:pPr algn="just"/>
            <a:r>
              <a:rPr lang="en-IN" dirty="0">
                <a:latin typeface="Times New Roman" panose="02020603050405020304" pitchFamily="18" charset="0"/>
                <a:cs typeface="Times New Roman" panose="02020603050405020304" pitchFamily="18" charset="0"/>
              </a:rPr>
              <a:t>Existing online quiz platforms often face challenges in managing users, quizzes, questions, and results efficiently. Monolithic implementations can tightly couple these functionalities, making the system harder to maintain, scale, and modify independently. There is a need for a secure and scalable online quiz system that provides efficient quiz management, user authentication, automated result processing, and reliable communication between services.</a:t>
            </a:r>
          </a:p>
        </p:txBody>
      </p:sp>
    </p:spTree>
    <p:extLst>
      <p:ext uri="{BB962C8B-B14F-4D97-AF65-F5344CB8AC3E}">
        <p14:creationId xmlns:p14="http://schemas.microsoft.com/office/powerpoint/2010/main" val="1843937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4AF34-8CFC-8161-A3CD-DED259C92A6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F508849-A0DD-12D4-FD0D-5322CA138B2F}"/>
              </a:ext>
            </a:extLst>
          </p:cNvPr>
          <p:cNvSpPr txBox="1"/>
          <p:nvPr/>
        </p:nvSpPr>
        <p:spPr>
          <a:xfrm>
            <a:off x="3048000" y="469169"/>
            <a:ext cx="6096000" cy="646331"/>
          </a:xfrm>
          <a:prstGeom prst="rect">
            <a:avLst/>
          </a:prstGeom>
          <a:noFill/>
        </p:spPr>
        <p:txBody>
          <a:bodyPr wrap="square">
            <a:spAutoFit/>
          </a:bodyPr>
          <a:lstStyle/>
          <a:p>
            <a:pPr algn="ctr"/>
            <a:r>
              <a:rPr lang="en-US" sz="3600" b="1" dirty="0"/>
              <a:t>Objectives</a:t>
            </a:r>
          </a:p>
        </p:txBody>
      </p:sp>
      <p:pic>
        <p:nvPicPr>
          <p:cNvPr id="3" name="Picture 2">
            <a:extLst>
              <a:ext uri="{FF2B5EF4-FFF2-40B4-BE49-F238E27FC236}">
                <a16:creationId xmlns:a16="http://schemas.microsoft.com/office/drawing/2014/main" id="{5B2C6E66-DFCA-CBBA-3972-F62C5800AE03}"/>
              </a:ext>
            </a:extLst>
          </p:cNvPr>
          <p:cNvPicPr>
            <a:picLocks noChangeAspect="1"/>
          </p:cNvPicPr>
          <p:nvPr/>
        </p:nvPicPr>
        <p:blipFill>
          <a:blip r:embed="rId2"/>
          <a:stretch>
            <a:fillRect/>
          </a:stretch>
        </p:blipFill>
        <p:spPr>
          <a:xfrm>
            <a:off x="10249380" y="0"/>
            <a:ext cx="1942620" cy="622550"/>
          </a:xfrm>
          <a:prstGeom prst="rect">
            <a:avLst/>
          </a:prstGeom>
        </p:spPr>
      </p:pic>
      <p:sp>
        <p:nvSpPr>
          <p:cNvPr id="4" name="TextBox 3">
            <a:extLst>
              <a:ext uri="{FF2B5EF4-FFF2-40B4-BE49-F238E27FC236}">
                <a16:creationId xmlns:a16="http://schemas.microsoft.com/office/drawing/2014/main" id="{21F0B6C8-E6E7-1FAC-FD0A-5A371FE9D785}"/>
              </a:ext>
            </a:extLst>
          </p:cNvPr>
          <p:cNvSpPr txBox="1"/>
          <p:nvPr/>
        </p:nvSpPr>
        <p:spPr>
          <a:xfrm>
            <a:off x="1481667" y="1422400"/>
            <a:ext cx="7662333" cy="2308324"/>
          </a:xfrm>
          <a:prstGeom prst="rect">
            <a:avLst/>
          </a:prstGeom>
          <a:noFill/>
        </p:spPr>
        <p:txBody>
          <a:bodyPr wrap="square">
            <a:spAutoFit/>
          </a:bodyPr>
          <a:lstStyle/>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Develop a secure online platform for conducting quizzes.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Provide </a:t>
            </a:r>
            <a:r>
              <a:rPr lang="en-IN" b="1" dirty="0">
                <a:latin typeface="Times New Roman" panose="02020603050405020304" pitchFamily="18" charset="0"/>
                <a:cs typeface="Times New Roman" panose="02020603050405020304" pitchFamily="18" charset="0"/>
              </a:rPr>
              <a:t>JWT-based authentication and role-based authorization</a:t>
            </a:r>
            <a:r>
              <a:rPr lang="en-IN" dirty="0">
                <a:latin typeface="Times New Roman" panose="02020603050405020304" pitchFamily="18" charset="0"/>
                <a:cs typeface="Times New Roman" panose="02020603050405020304" pitchFamily="18" charset="0"/>
              </a:rPr>
              <a:t>.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Manage users, quizzes, questions, and results efficiently.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Implement independent services using </a:t>
            </a:r>
            <a:r>
              <a:rPr lang="en-IN" b="1" dirty="0">
                <a:latin typeface="Times New Roman" panose="02020603050405020304" pitchFamily="18" charset="0"/>
                <a:cs typeface="Times New Roman" panose="02020603050405020304" pitchFamily="18" charset="0"/>
              </a:rPr>
              <a:t>Spring Boot and Spring Cloud</a:t>
            </a:r>
            <a:r>
              <a:rPr lang="en-IN" dirty="0">
                <a:latin typeface="Times New Roman" panose="02020603050405020304" pitchFamily="18" charset="0"/>
                <a:cs typeface="Times New Roman" panose="02020603050405020304" pitchFamily="18" charset="0"/>
              </a:rPr>
              <a:t>.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Use </a:t>
            </a:r>
            <a:r>
              <a:rPr lang="en-IN" b="1" dirty="0">
                <a:latin typeface="Times New Roman" panose="02020603050405020304" pitchFamily="18" charset="0"/>
                <a:cs typeface="Times New Roman" panose="02020603050405020304" pitchFamily="18" charset="0"/>
              </a:rPr>
              <a:t>Eureka Server</a:t>
            </a:r>
            <a:r>
              <a:rPr lang="en-IN" dirty="0">
                <a:latin typeface="Times New Roman" panose="02020603050405020304" pitchFamily="18" charset="0"/>
                <a:cs typeface="Times New Roman" panose="02020603050405020304" pitchFamily="18" charset="0"/>
              </a:rPr>
              <a:t> for service discovery.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Use </a:t>
            </a:r>
            <a:r>
              <a:rPr lang="en-IN" b="1" dirty="0">
                <a:latin typeface="Times New Roman" panose="02020603050405020304" pitchFamily="18" charset="0"/>
                <a:cs typeface="Times New Roman" panose="02020603050405020304" pitchFamily="18" charset="0"/>
              </a:rPr>
              <a:t>Spring Cloud Gateway</a:t>
            </a:r>
            <a:r>
              <a:rPr lang="en-IN" dirty="0">
                <a:latin typeface="Times New Roman" panose="02020603050405020304" pitchFamily="18" charset="0"/>
                <a:cs typeface="Times New Roman" panose="02020603050405020304" pitchFamily="18" charset="0"/>
              </a:rPr>
              <a:t> for API routing.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Implement </a:t>
            </a:r>
            <a:r>
              <a:rPr lang="en-IN" b="1" dirty="0">
                <a:latin typeface="Times New Roman" panose="02020603050405020304" pitchFamily="18" charset="0"/>
                <a:cs typeface="Times New Roman" panose="02020603050405020304" pitchFamily="18" charset="0"/>
              </a:rPr>
              <a:t>database-per-service</a:t>
            </a:r>
            <a:r>
              <a:rPr lang="en-IN" dirty="0">
                <a:latin typeface="Times New Roman" panose="02020603050405020304" pitchFamily="18" charset="0"/>
                <a:cs typeface="Times New Roman" panose="02020603050405020304" pitchFamily="18" charset="0"/>
              </a:rPr>
              <a:t> architecture.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Test REST APIs using </a:t>
            </a:r>
            <a:r>
              <a:rPr lang="en-IN" b="1" dirty="0">
                <a:latin typeface="Times New Roman" panose="02020603050405020304" pitchFamily="18" charset="0"/>
                <a:cs typeface="Times New Roman" panose="02020603050405020304" pitchFamily="18" charset="0"/>
              </a:rPr>
              <a:t>Postman</a:t>
            </a:r>
            <a:r>
              <a:rPr lang="en-IN"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9177829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AACD11AD-3AF5-B626-2B60-0567E4585BB7}"/>
              </a:ext>
            </a:extLst>
          </p:cNvPr>
          <p:cNvGraphicFramePr>
            <a:graphicFrameLocks/>
          </p:cNvGraphicFramePr>
          <p:nvPr>
            <p:extLst>
              <p:ext uri="{D42A27DB-BD31-4B8C-83A1-F6EECF244321}">
                <p14:modId xmlns:p14="http://schemas.microsoft.com/office/powerpoint/2010/main" val="815962872"/>
              </p:ext>
            </p:extLst>
          </p:nvPr>
        </p:nvGraphicFramePr>
        <p:xfrm>
          <a:off x="274646" y="689466"/>
          <a:ext cx="11642705" cy="5356157"/>
        </p:xfrm>
        <a:graphic>
          <a:graphicData uri="http://schemas.openxmlformats.org/drawingml/2006/table">
            <a:tbl>
              <a:tblPr firstRow="1" bandRow="1">
                <a:tableStyleId>{BC89EF96-8CEA-46FF-86C4-4CE0E7609802}</a:tableStyleId>
              </a:tblPr>
              <a:tblGrid>
                <a:gridCol w="1089006">
                  <a:extLst>
                    <a:ext uri="{9D8B030D-6E8A-4147-A177-3AD203B41FA5}">
                      <a16:colId xmlns:a16="http://schemas.microsoft.com/office/drawing/2014/main" val="20001"/>
                    </a:ext>
                  </a:extLst>
                </a:gridCol>
                <a:gridCol w="2275288">
                  <a:extLst>
                    <a:ext uri="{9D8B030D-6E8A-4147-A177-3AD203B41FA5}">
                      <a16:colId xmlns:a16="http://schemas.microsoft.com/office/drawing/2014/main" val="20002"/>
                    </a:ext>
                  </a:extLst>
                </a:gridCol>
                <a:gridCol w="2476109">
                  <a:extLst>
                    <a:ext uri="{9D8B030D-6E8A-4147-A177-3AD203B41FA5}">
                      <a16:colId xmlns:a16="http://schemas.microsoft.com/office/drawing/2014/main" val="20003"/>
                    </a:ext>
                  </a:extLst>
                </a:gridCol>
                <a:gridCol w="2936588">
                  <a:extLst>
                    <a:ext uri="{9D8B030D-6E8A-4147-A177-3AD203B41FA5}">
                      <a16:colId xmlns:a16="http://schemas.microsoft.com/office/drawing/2014/main" val="20004"/>
                    </a:ext>
                  </a:extLst>
                </a:gridCol>
                <a:gridCol w="2865714">
                  <a:extLst>
                    <a:ext uri="{9D8B030D-6E8A-4147-A177-3AD203B41FA5}">
                      <a16:colId xmlns:a16="http://schemas.microsoft.com/office/drawing/2014/main" val="1396003017"/>
                    </a:ext>
                  </a:extLst>
                </a:gridCol>
              </a:tblGrid>
              <a:tr h="387917">
                <a:tc>
                  <a:txBody>
                    <a:bodyPr/>
                    <a:lstStyle/>
                    <a:p>
                      <a:pPr algn="ctr">
                        <a:buNone/>
                      </a:pPr>
                      <a:r>
                        <a:rPr lang="en-US" dirty="0">
                          <a:latin typeface="Times New Roman" pitchFamily="18" charset="0"/>
                          <a:cs typeface="Times New Roman" pitchFamily="18" charset="0"/>
                        </a:rPr>
                        <a:t>Authors</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itchFamily="18" charset="0"/>
                          <a:cs typeface="Times New Roman" pitchFamily="18" charset="0"/>
                        </a:rPr>
                        <a:t>Title of the Paper</a:t>
                      </a:r>
                    </a:p>
                  </a:txBody>
                  <a:tcPr>
                    <a:solidFill>
                      <a:srgbClr val="FFFF00"/>
                    </a:solidFill>
                  </a:tcPr>
                </a:tc>
                <a:tc>
                  <a:txBody>
                    <a:bodyPr/>
                    <a:lstStyle/>
                    <a:p>
                      <a:pPr algn="ctr">
                        <a:buNone/>
                      </a:pPr>
                      <a:r>
                        <a:rPr lang="en-US" dirty="0">
                          <a:latin typeface="Times New Roman" pitchFamily="18" charset="0"/>
                          <a:cs typeface="Times New Roman" pitchFamily="18" charset="0"/>
                        </a:rPr>
                        <a:t>Methodology</a:t>
                      </a:r>
                    </a:p>
                  </a:txBody>
                  <a:tcPr>
                    <a:solidFill>
                      <a:srgbClr val="FFFF00"/>
                    </a:solidFill>
                  </a:tcPr>
                </a:tc>
                <a:tc>
                  <a:txBody>
                    <a:bodyPr/>
                    <a:lstStyle/>
                    <a:p>
                      <a:pPr algn="ctr">
                        <a:buNone/>
                      </a:pPr>
                      <a:r>
                        <a:rPr lang="en-US" dirty="0">
                          <a:latin typeface="Times New Roman" pitchFamily="18" charset="0"/>
                          <a:cs typeface="Times New Roman" pitchFamily="18" charset="0"/>
                        </a:rPr>
                        <a:t>Inferences</a:t>
                      </a:r>
                    </a:p>
                  </a:txBody>
                  <a:tcPr>
                    <a:solidFill>
                      <a:srgbClr val="FFFF00"/>
                    </a:solidFill>
                  </a:tcPr>
                </a:tc>
                <a:tc>
                  <a:txBody>
                    <a:bodyPr/>
                    <a:lstStyle/>
                    <a:p>
                      <a:pPr algn="ctr">
                        <a:buNone/>
                      </a:pPr>
                      <a:r>
                        <a:rPr lang="en-US" dirty="0">
                          <a:latin typeface="Times New Roman" pitchFamily="18" charset="0"/>
                          <a:cs typeface="Times New Roman" pitchFamily="18" charset="0"/>
                        </a:rPr>
                        <a:t>Limitation/Future work</a:t>
                      </a:r>
                    </a:p>
                  </a:txBody>
                  <a:tcPr>
                    <a:solidFill>
                      <a:srgbClr val="FFFF00"/>
                    </a:solidFill>
                  </a:tcPr>
                </a:tc>
                <a:extLst>
                  <a:ext uri="{0D108BD9-81ED-4DB2-BD59-A6C34878D82A}">
                    <a16:rowId xmlns:a16="http://schemas.microsoft.com/office/drawing/2014/main" val="10000"/>
                  </a:ext>
                </a:extLst>
              </a:tr>
              <a:tr h="1541937">
                <a:tc>
                  <a:txBody>
                    <a:bodyPr/>
                    <a:lstStyle/>
                    <a:p>
                      <a:pPr marL="0" algn="l" defTabSz="914400" rtl="0" eaLnBrk="1" latinLnBrk="0" hangingPunct="1"/>
                      <a:r>
                        <a:rPr lang="en-IN" sz="1400" dirty="0"/>
                        <a:t>D. A. Bauer, B. Penz, J. </a:t>
                      </a:r>
                      <a:r>
                        <a:rPr lang="en-IN" sz="1400" dirty="0" err="1"/>
                        <a:t>Mäkiö</a:t>
                      </a:r>
                      <a:r>
                        <a:rPr lang="en-IN" sz="1400" dirty="0"/>
                        <a:t>, M. Assaad</a:t>
                      </a:r>
                      <a:endParaRPr lang="en-IN" sz="1400" b="0" i="0" u="none" kern="1200" dirty="0">
                        <a:solidFill>
                          <a:srgbClr val="FF0000"/>
                        </a:solidFill>
                        <a:effectLst/>
                        <a:latin typeface="Times New Roman" panose="02020603050405020304" pitchFamily="18" charset="0"/>
                        <a:ea typeface="+mn-ea"/>
                        <a:cs typeface="Times New Roman" panose="02020603050405020304" pitchFamily="18" charset="0"/>
                      </a:endParaRPr>
                    </a:p>
                  </a:txBody>
                  <a:tcPr/>
                </a:tc>
                <a:tc>
                  <a:txBody>
                    <a:bodyPr/>
                    <a:lstStyle/>
                    <a:p>
                      <a:r>
                        <a:rPr lang="en-IN" sz="1400" i="1" dirty="0"/>
                        <a:t>Improvement of an Existing Microservices Architecture for an E-learning Platform in STEM Education</a:t>
                      </a:r>
                      <a:r>
                        <a:rPr lang="en-IN" sz="1400" dirty="0"/>
                        <a:t>, AICT 2018</a:t>
                      </a:r>
                      <a:endParaRPr lang="en-IN" sz="1400" b="1" i="0" kern="1200" dirty="0">
                        <a:solidFill>
                          <a:srgbClr val="FF0000"/>
                        </a:solidFill>
                        <a:effectLst/>
                        <a:latin typeface="Times New Roman" panose="02020603050405020304" pitchFamily="18" charset="0"/>
                        <a:ea typeface="+mn-ea"/>
                        <a:cs typeface="Times New Roman" panose="02020603050405020304" pitchFamily="18" charset="0"/>
                      </a:endParaRPr>
                    </a:p>
                  </a:txBody>
                  <a:tcPr/>
                </a:tc>
                <a:tc>
                  <a:txBody>
                    <a:bodyPr/>
                    <a:lstStyle/>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Microservices-based architecture</a:t>
                      </a:r>
                    </a:p>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Domain-specific microservices</a:t>
                      </a:r>
                    </a:p>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Different data-access patterns</a:t>
                      </a:r>
                    </a:p>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Proposed AWS migration</a:t>
                      </a:r>
                    </a:p>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endParaRPr lang="en-IN" sz="1400" dirty="0"/>
                    </a:p>
                  </a:txBody>
                  <a:tcPr/>
                </a:tc>
                <a:tc>
                  <a:txBody>
                    <a:bodyPr/>
                    <a:lstStyle/>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Microservices improve modularity and maintainability of e-learning platforms.</a:t>
                      </a:r>
                    </a:p>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Separating domain-specific functionality makes development easier.</a:t>
                      </a:r>
                    </a:p>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Architecture supports independent handling of different platform components.</a:t>
                      </a:r>
                    </a:p>
                  </a:txBody>
                  <a:tcPr/>
                </a:tc>
                <a:tc>
                  <a:txBody>
                    <a:bodyPr/>
                    <a:lstStyle/>
                    <a:p>
                      <a:pPr marL="285750" indent="-285750" algn="l" defTabSz="914400" rtl="0" eaLnBrk="1" latinLnBrk="0" hangingPunct="1">
                        <a:buFont typeface="Arial" panose="020B0604020202020204" pitchFamily="34" charset="0"/>
                        <a:buChar char="•"/>
                      </a:pPr>
                      <a:r>
                        <a:rPr lang="en-IN" sz="1400" dirty="0"/>
                        <a:t>Focuses on an e-learning platform rather than a dedicated quiz system.</a:t>
                      </a:r>
                    </a:p>
                    <a:p>
                      <a:pPr marL="285750" indent="-285750" algn="l" defTabSz="914400" rtl="0" eaLnBrk="1" latinLnBrk="0" hangingPunct="1">
                        <a:buFont typeface="Arial" panose="020B0604020202020204" pitchFamily="34" charset="0"/>
                        <a:buChar char="•"/>
                      </a:pPr>
                      <a:r>
                        <a:rPr lang="en-IN" sz="1400" dirty="0"/>
                        <a:t>Further work can improve cloud deployment and service integration.</a:t>
                      </a:r>
                      <a:endParaRPr lang="en-US"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extLst>
                  <a:ext uri="{0D108BD9-81ED-4DB2-BD59-A6C34878D82A}">
                    <a16:rowId xmlns:a16="http://schemas.microsoft.com/office/drawing/2014/main" val="3714155954"/>
                  </a:ext>
                </a:extLst>
              </a:tr>
              <a:tr h="1354600">
                <a:tc>
                  <a:txBody>
                    <a:bodyPr/>
                    <a:lstStyle/>
                    <a:p>
                      <a:pPr marL="0" algn="l" defTabSz="914400" rtl="0" eaLnBrk="1" latinLnBrk="0" hangingPunct="1"/>
                      <a:r>
                        <a:rPr lang="en-IN" sz="1400" dirty="0"/>
                        <a:t>Dwi Ely Kurniawan, </a:t>
                      </a:r>
                      <a:r>
                        <a:rPr lang="en-IN" sz="1400" dirty="0" err="1"/>
                        <a:t>Afdhol</a:t>
                      </a:r>
                      <a:r>
                        <a:rPr lang="en-IN" sz="1400" dirty="0"/>
                        <a:t> </a:t>
                      </a:r>
                      <a:r>
                        <a:rPr lang="en-IN" sz="1400" dirty="0" err="1"/>
                        <a:t>Dzikri</a:t>
                      </a:r>
                      <a:endParaRPr lang="en-IN" sz="1400" dirty="0"/>
                    </a:p>
                    <a:p>
                      <a:pPr marL="0" algn="l" defTabSz="914400" rtl="0" eaLnBrk="1" latinLnBrk="0" hangingPunct="1"/>
                      <a:endParaRPr lang="en-IN" sz="1400" b="0" i="0" u="none" kern="1200" dirty="0">
                        <a:solidFill>
                          <a:schemeClr val="dk1"/>
                        </a:solidFill>
                        <a:effectLst/>
                        <a:latin typeface="Times New Roman" panose="02020603050405020304" pitchFamily="18" charset="0"/>
                        <a:ea typeface="+mn-ea"/>
                        <a:cs typeface="Times New Roman" panose="02020603050405020304" pitchFamily="18" charset="0"/>
                      </a:endParaRPr>
                    </a:p>
                  </a:txBody>
                  <a:tcPr/>
                </a:tc>
                <a:tc>
                  <a:txBody>
                    <a:bodyPr/>
                    <a:lstStyle/>
                    <a:p>
                      <a:r>
                        <a:rPr lang="en-IN" sz="1400" i="1" dirty="0"/>
                        <a:t>Development of a Prototype for Microservices Architecture and API Gateway Integration in an eLearning Platform</a:t>
                      </a:r>
                      <a:r>
                        <a:rPr lang="en-IN" sz="1400" dirty="0"/>
                        <a:t>, ICAE 2023/2024</a:t>
                      </a:r>
                      <a:endParaRPr lang="en-IN" sz="1400" b="1" i="0" u="none" kern="1200" dirty="0">
                        <a:solidFill>
                          <a:schemeClr val="tx1"/>
                        </a:solidFill>
                        <a:effectLst/>
                        <a:latin typeface="Times New Roman" panose="02020603050405020304" pitchFamily="18" charset="0"/>
                        <a:ea typeface="+mn-ea"/>
                        <a:cs typeface="Times New Roman" panose="02020603050405020304" pitchFamily="18" charset="0"/>
                      </a:endParaRPr>
                    </a:p>
                  </a:txBody>
                  <a:tcPr/>
                </a:tc>
                <a:tc>
                  <a:txBody>
                    <a:bodyPr/>
                    <a:lstStyle/>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Microservices architecture</a:t>
                      </a:r>
                    </a:p>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API Gateway</a:t>
                      </a:r>
                    </a:p>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Data modelling</a:t>
                      </a:r>
                    </a:p>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Software development</a:t>
                      </a:r>
                      <a:endParaRPr lang="en-US" sz="1400" b="0" i="0" u="none" kern="1200" dirty="0">
                        <a:solidFill>
                          <a:schemeClr val="dk1"/>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API Gateway simplifies communication between services.</a:t>
                      </a:r>
                    </a:p>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Microservices improve platform flexibility and scalability.</a:t>
                      </a:r>
                      <a:endParaRPr lang="en-US" sz="1400" b="0" i="0" u="none" kern="1200" dirty="0">
                        <a:solidFill>
                          <a:schemeClr val="dk1"/>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indent="-285750" algn="l" defTabSz="914400" rtl="0" eaLnBrk="1" latinLnBrk="0" hangingPunct="1">
                        <a:buFont typeface="Arial" panose="020B0604020202020204" pitchFamily="34" charset="0"/>
                        <a:buChar char="•"/>
                      </a:pPr>
                      <a:r>
                        <a:rPr lang="en-IN" sz="1400" dirty="0"/>
                        <a:t>Prototype focuses on general e-learning rather than quiz-specific services.</a:t>
                      </a:r>
                    </a:p>
                    <a:p>
                      <a:pPr marL="285750" indent="-285750" algn="l" defTabSz="914400" rtl="0" eaLnBrk="1" latinLnBrk="0" hangingPunct="1">
                        <a:buFont typeface="Arial" panose="020B0604020202020204" pitchFamily="34" charset="0"/>
                        <a:buChar char="•"/>
                      </a:pPr>
                      <a:r>
                        <a:rPr lang="en-IN" sz="1400" dirty="0"/>
                        <a:t>Further improvements can address larger-scale deployment and additional services.</a:t>
                      </a:r>
                      <a:endParaRPr lang="en-US" sz="1400" b="0" i="0" u="none" kern="1200" dirty="0">
                        <a:solidFill>
                          <a:schemeClr val="tx1"/>
                        </a:solidFill>
                        <a:effectLst/>
                        <a:latin typeface="Times New Roman" panose="02020603050405020304" pitchFamily="18" charset="0"/>
                        <a:ea typeface="+mn-ea"/>
                        <a:cs typeface="Times New Roman" panose="02020603050405020304" pitchFamily="18" charset="0"/>
                        <a:sym typeface="Arial"/>
                      </a:endParaRPr>
                    </a:p>
                  </a:txBody>
                  <a:tcPr/>
                </a:tc>
                <a:extLst>
                  <a:ext uri="{0D108BD9-81ED-4DB2-BD59-A6C34878D82A}">
                    <a16:rowId xmlns:a16="http://schemas.microsoft.com/office/drawing/2014/main" val="2655426370"/>
                  </a:ext>
                </a:extLst>
              </a:tr>
              <a:tr h="1354600">
                <a:tc>
                  <a:txBody>
                    <a:bodyPr/>
                    <a:lstStyle/>
                    <a:p>
                      <a:pPr marL="0" algn="l" defTabSz="914400" rtl="0" eaLnBrk="1" latinLnBrk="0" hangingPunct="1"/>
                      <a:r>
                        <a:rPr lang="en-IN" sz="1400" dirty="0"/>
                        <a:t>Ana Milovanović</a:t>
                      </a:r>
                      <a:endParaRPr lang="en-IN" sz="1400" b="1" i="0" u="none" kern="1200" dirty="0">
                        <a:solidFill>
                          <a:schemeClr val="dk1"/>
                        </a:solidFill>
                        <a:effectLst/>
                        <a:latin typeface="Times New Roman" panose="02020603050405020304" pitchFamily="18" charset="0"/>
                        <a:ea typeface="+mn-ea"/>
                        <a:cs typeface="Times New Roman" panose="02020603050405020304" pitchFamily="18" charset="0"/>
                      </a:endParaRPr>
                    </a:p>
                  </a:txBody>
                  <a:tcPr/>
                </a:tc>
                <a:tc>
                  <a:txBody>
                    <a:bodyPr/>
                    <a:lstStyle/>
                    <a:p>
                      <a:r>
                        <a:rPr lang="en-IN" sz="1400" i="1" dirty="0"/>
                        <a:t>Microservice Architecture in E-Learning</a:t>
                      </a:r>
                      <a:r>
                        <a:rPr lang="en-IN" sz="1400" dirty="0"/>
                        <a:t>, E-Business Technologies Conference, 2021</a:t>
                      </a:r>
                      <a:endParaRPr lang="en-IN" sz="1400" b="1" i="0" u="none" kern="1200" dirty="0">
                        <a:solidFill>
                          <a:schemeClr val="tx1"/>
                        </a:solidFill>
                        <a:effectLst/>
                        <a:latin typeface="Times New Roman" panose="02020603050405020304" pitchFamily="18" charset="0"/>
                        <a:ea typeface="+mn-ea"/>
                        <a:cs typeface="Times New Roman" panose="02020603050405020304" pitchFamily="18" charset="0"/>
                      </a:endParaRPr>
                    </a:p>
                  </a:txBody>
                  <a:tcPr/>
                </a:tc>
                <a:tc>
                  <a:txBody>
                    <a:bodyPr/>
                    <a:lstStyle/>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Microservice architecture</a:t>
                      </a:r>
                    </a:p>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Domain-Driven Design</a:t>
                      </a:r>
                    </a:p>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Integration with existing LMS</a:t>
                      </a:r>
                    </a:p>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Cloud Data Platform</a:t>
                      </a:r>
                      <a:endParaRPr lang="en-US" sz="1400" b="0" u="none" kern="1200" dirty="0">
                        <a:solidFill>
                          <a:schemeClr val="dk1"/>
                        </a:solidFill>
                        <a:effectLst/>
                        <a:latin typeface="Times New Roman" panose="02020603050405020304" pitchFamily="18" charset="0"/>
                        <a:cs typeface="Times New Roman" panose="02020603050405020304" pitchFamily="18" charset="0"/>
                      </a:endParaRPr>
                    </a:p>
                  </a:txBody>
                  <a:tcPr/>
                </a:tc>
                <a:tc>
                  <a:txBody>
                    <a:bodyPr/>
                    <a:lstStyle/>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Microservices can be effectively applied to e-learning systems.</a:t>
                      </a:r>
                    </a:p>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DDD helps identify suitable independent services.</a:t>
                      </a:r>
                    </a:p>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t>Integration with existing LMS platforms is possible.</a:t>
                      </a:r>
                      <a:endParaRPr lang="en-US" sz="1400" b="0" i="0" u="none" kern="1200" dirty="0">
                        <a:solidFill>
                          <a:schemeClr val="dk1"/>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indent="-285750" algn="l" defTabSz="914400" rtl="0" eaLnBrk="1" latinLnBrk="0" hangingPunct="1">
                        <a:buFont typeface="Arial" panose="020B0604020202020204" pitchFamily="34" charset="0"/>
                        <a:buChar char="•"/>
                      </a:pPr>
                      <a:r>
                        <a:rPr lang="en-IN" sz="1400" dirty="0"/>
                        <a:t>Further research is needed for integration of custom microservices with existing LMS platforms such as Moodle</a:t>
                      </a:r>
                      <a:endParaRPr lang="en-US" sz="1400" b="1" i="0" u="none" kern="1200" dirty="0">
                        <a:solidFill>
                          <a:schemeClr val="tx1"/>
                        </a:solidFill>
                        <a:effectLst/>
                        <a:latin typeface="Times New Roman" panose="02020603050405020304" pitchFamily="18" charset="0"/>
                        <a:ea typeface="+mn-ea"/>
                        <a:cs typeface="Times New Roman" panose="02020603050405020304" pitchFamily="18" charset="0"/>
                        <a:sym typeface="Arial"/>
                      </a:endParaRPr>
                    </a:p>
                  </a:txBody>
                  <a:tcPr/>
                </a:tc>
                <a:extLst>
                  <a:ext uri="{0D108BD9-81ED-4DB2-BD59-A6C34878D82A}">
                    <a16:rowId xmlns:a16="http://schemas.microsoft.com/office/drawing/2014/main" val="2841575018"/>
                  </a:ext>
                </a:extLst>
              </a:tr>
            </a:tbl>
          </a:graphicData>
        </a:graphic>
      </p:graphicFrame>
      <p:sp>
        <p:nvSpPr>
          <p:cNvPr id="2" name="TextBox 1">
            <a:extLst>
              <a:ext uri="{FF2B5EF4-FFF2-40B4-BE49-F238E27FC236}">
                <a16:creationId xmlns:a16="http://schemas.microsoft.com/office/drawing/2014/main" id="{C48F0022-391A-4CFC-2851-87E76B37EAC2}"/>
              </a:ext>
            </a:extLst>
          </p:cNvPr>
          <p:cNvSpPr txBox="1"/>
          <p:nvPr/>
        </p:nvSpPr>
        <p:spPr>
          <a:xfrm>
            <a:off x="4560565" y="136525"/>
            <a:ext cx="3070868" cy="523220"/>
          </a:xfrm>
          <a:prstGeom prst="rect">
            <a:avLst/>
          </a:prstGeom>
          <a:noFill/>
        </p:spPr>
        <p:txBody>
          <a:bodyPr wrap="square" rtlCol="0">
            <a:spAutoFit/>
          </a:bodyPr>
          <a:lstStyle/>
          <a:p>
            <a:pPr algn="ctr"/>
            <a:r>
              <a:rPr lang="en-IN" sz="2800" b="1" dirty="0">
                <a:solidFill>
                  <a:srgbClr val="0064C8"/>
                </a:solidFill>
                <a:latin typeface="Times New Roman" panose="02020603050405020304" pitchFamily="18" charset="0"/>
                <a:ea typeface="Cambria"/>
                <a:cs typeface="Times New Roman" panose="02020603050405020304" pitchFamily="18" charset="0"/>
              </a:rPr>
              <a:t>Literature Survey</a:t>
            </a:r>
            <a:endParaRPr lang="en-IN" sz="2800" b="1" dirty="0">
              <a:latin typeface="Times New Roman" panose="02020603050405020304" pitchFamily="18" charset="0"/>
              <a:cs typeface="Times New Roman" panose="02020603050405020304" pitchFamily="18" charset="0"/>
            </a:endParaRPr>
          </a:p>
        </p:txBody>
      </p:sp>
      <p:sp>
        <p:nvSpPr>
          <p:cNvPr id="10" name="Slide Number Placeholder 9">
            <a:extLst>
              <a:ext uri="{FF2B5EF4-FFF2-40B4-BE49-F238E27FC236}">
                <a16:creationId xmlns:a16="http://schemas.microsoft.com/office/drawing/2014/main" id="{09784944-5437-9E89-7017-F3DB9CA914FA}"/>
              </a:ext>
            </a:extLst>
          </p:cNvPr>
          <p:cNvSpPr>
            <a:spLocks noGrp="1"/>
          </p:cNvSpPr>
          <p:nvPr>
            <p:ph type="sldNum" sz="quarter" idx="12"/>
          </p:nvPr>
        </p:nvSpPr>
        <p:spPr/>
        <p:txBody>
          <a:bodyPr/>
          <a:lstStyle/>
          <a:p>
            <a:fld id="{5A3A418F-4DEE-4BB1-940B-1145D135750E}" type="slidenum">
              <a:rPr lang="en-IN" smtClean="0"/>
              <a:t>5</a:t>
            </a:fld>
            <a:endParaRPr lang="en-IN"/>
          </a:p>
        </p:txBody>
      </p:sp>
      <p:pic>
        <p:nvPicPr>
          <p:cNvPr id="6" name="Picture 5">
            <a:extLst>
              <a:ext uri="{FF2B5EF4-FFF2-40B4-BE49-F238E27FC236}">
                <a16:creationId xmlns:a16="http://schemas.microsoft.com/office/drawing/2014/main" id="{CF3EBAEA-8DC6-8F54-F0D6-38F9643BD4B7}"/>
              </a:ext>
            </a:extLst>
          </p:cNvPr>
          <p:cNvPicPr>
            <a:picLocks noChangeAspect="1"/>
          </p:cNvPicPr>
          <p:nvPr/>
        </p:nvPicPr>
        <p:blipFill>
          <a:blip r:embed="rId3"/>
          <a:stretch>
            <a:fillRect/>
          </a:stretch>
        </p:blipFill>
        <p:spPr>
          <a:xfrm>
            <a:off x="10249380" y="0"/>
            <a:ext cx="1942620" cy="622550"/>
          </a:xfrm>
          <a:prstGeom prst="rect">
            <a:avLst/>
          </a:prstGeom>
        </p:spPr>
      </p:pic>
    </p:spTree>
    <p:extLst>
      <p:ext uri="{BB962C8B-B14F-4D97-AF65-F5344CB8AC3E}">
        <p14:creationId xmlns:p14="http://schemas.microsoft.com/office/powerpoint/2010/main" val="30292770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EF2FA-32F2-6715-843F-6ACC796D053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00062CA-E93E-DFB0-5A22-1412AB9A6752}"/>
              </a:ext>
            </a:extLst>
          </p:cNvPr>
          <p:cNvSpPr txBox="1"/>
          <p:nvPr/>
        </p:nvSpPr>
        <p:spPr>
          <a:xfrm>
            <a:off x="3048000" y="600078"/>
            <a:ext cx="6096000" cy="646331"/>
          </a:xfrm>
          <a:prstGeom prst="rect">
            <a:avLst/>
          </a:prstGeom>
          <a:noFill/>
        </p:spPr>
        <p:txBody>
          <a:bodyPr wrap="square">
            <a:spAutoFit/>
          </a:bodyPr>
          <a:lstStyle/>
          <a:p>
            <a:pPr algn="ctr"/>
            <a:r>
              <a:rPr lang="en-US" sz="3600" b="1" dirty="0"/>
              <a:t>Problem Gap Identification</a:t>
            </a:r>
          </a:p>
        </p:txBody>
      </p:sp>
      <p:pic>
        <p:nvPicPr>
          <p:cNvPr id="3" name="Picture 2">
            <a:extLst>
              <a:ext uri="{FF2B5EF4-FFF2-40B4-BE49-F238E27FC236}">
                <a16:creationId xmlns:a16="http://schemas.microsoft.com/office/drawing/2014/main" id="{7777B92A-0C12-D39A-8847-98719E7B6FFF}"/>
              </a:ext>
            </a:extLst>
          </p:cNvPr>
          <p:cNvPicPr>
            <a:picLocks noChangeAspect="1"/>
          </p:cNvPicPr>
          <p:nvPr/>
        </p:nvPicPr>
        <p:blipFill>
          <a:blip r:embed="rId2"/>
          <a:stretch>
            <a:fillRect/>
          </a:stretch>
        </p:blipFill>
        <p:spPr>
          <a:xfrm>
            <a:off x="10249380" y="0"/>
            <a:ext cx="1942620" cy="622550"/>
          </a:xfrm>
          <a:prstGeom prst="rect">
            <a:avLst/>
          </a:prstGeom>
        </p:spPr>
      </p:pic>
      <p:sp>
        <p:nvSpPr>
          <p:cNvPr id="4" name="TextBox 3">
            <a:extLst>
              <a:ext uri="{FF2B5EF4-FFF2-40B4-BE49-F238E27FC236}">
                <a16:creationId xmlns:a16="http://schemas.microsoft.com/office/drawing/2014/main" id="{3E588C13-459D-9094-A1A5-4B82715D9306}"/>
              </a:ext>
            </a:extLst>
          </p:cNvPr>
          <p:cNvSpPr txBox="1"/>
          <p:nvPr/>
        </p:nvSpPr>
        <p:spPr>
          <a:xfrm>
            <a:off x="2658533" y="1625600"/>
            <a:ext cx="6485467" cy="2585323"/>
          </a:xfrm>
          <a:prstGeom prst="rect">
            <a:avLst/>
          </a:prstGeom>
          <a:noFill/>
        </p:spPr>
        <p:txBody>
          <a:bodyPr wrap="square">
            <a:spAutoFit/>
          </a:bodyPr>
          <a:lstStyle/>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Existing online assessment systems primarily focus on examination functionality rather than modular service architecture.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Many systems combine multiple functionalities into tightly coupled applications.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Limited focus is given to independently scalable services for users, quizzes, questions, and results.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Security, service discovery, API routing, testing, are often not integrated into a single educational assessment platform.</a:t>
            </a:r>
          </a:p>
        </p:txBody>
      </p:sp>
    </p:spTree>
    <p:extLst>
      <p:ext uri="{BB962C8B-B14F-4D97-AF65-F5344CB8AC3E}">
        <p14:creationId xmlns:p14="http://schemas.microsoft.com/office/powerpoint/2010/main" val="20658760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C6D84-077B-7007-4B63-807557EC63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4387226-F29E-0041-5581-4EF07C7198F1}"/>
              </a:ext>
            </a:extLst>
          </p:cNvPr>
          <p:cNvSpPr txBox="1"/>
          <p:nvPr/>
        </p:nvSpPr>
        <p:spPr>
          <a:xfrm>
            <a:off x="1893060" y="567351"/>
            <a:ext cx="8405879" cy="646331"/>
          </a:xfrm>
          <a:prstGeom prst="rect">
            <a:avLst/>
          </a:prstGeom>
          <a:noFill/>
        </p:spPr>
        <p:txBody>
          <a:bodyPr wrap="square">
            <a:spAutoFit/>
          </a:bodyPr>
          <a:lstStyle/>
          <a:p>
            <a:pPr algn="ctr"/>
            <a:r>
              <a:rPr lang="en-US" sz="3600" b="1" dirty="0"/>
              <a:t>Innovation, Creativity, and Novelty</a:t>
            </a:r>
          </a:p>
        </p:txBody>
      </p:sp>
      <p:pic>
        <p:nvPicPr>
          <p:cNvPr id="3" name="Picture 2">
            <a:extLst>
              <a:ext uri="{FF2B5EF4-FFF2-40B4-BE49-F238E27FC236}">
                <a16:creationId xmlns:a16="http://schemas.microsoft.com/office/drawing/2014/main" id="{1BC5F926-1E4C-4031-B9E9-6A17F126A332}"/>
              </a:ext>
            </a:extLst>
          </p:cNvPr>
          <p:cNvPicPr>
            <a:picLocks noChangeAspect="1"/>
          </p:cNvPicPr>
          <p:nvPr/>
        </p:nvPicPr>
        <p:blipFill>
          <a:blip r:embed="rId2"/>
          <a:stretch>
            <a:fillRect/>
          </a:stretch>
        </p:blipFill>
        <p:spPr>
          <a:xfrm>
            <a:off x="10249380" y="0"/>
            <a:ext cx="1942620" cy="622550"/>
          </a:xfrm>
          <a:prstGeom prst="rect">
            <a:avLst/>
          </a:prstGeom>
        </p:spPr>
      </p:pic>
      <p:sp>
        <p:nvSpPr>
          <p:cNvPr id="4" name="TextBox 3">
            <a:extLst>
              <a:ext uri="{FF2B5EF4-FFF2-40B4-BE49-F238E27FC236}">
                <a16:creationId xmlns:a16="http://schemas.microsoft.com/office/drawing/2014/main" id="{FD6E4958-DEC7-4201-B2A0-96ACF5B9823F}"/>
              </a:ext>
            </a:extLst>
          </p:cNvPr>
          <p:cNvSpPr txBox="1"/>
          <p:nvPr/>
        </p:nvSpPr>
        <p:spPr>
          <a:xfrm>
            <a:off x="2379133" y="1710267"/>
            <a:ext cx="6764867" cy="2308324"/>
          </a:xfrm>
          <a:prstGeom prst="rect">
            <a:avLst/>
          </a:prstGeom>
          <a:noFill/>
        </p:spPr>
        <p:txBody>
          <a:bodyPr wrap="square">
            <a:spAutoFit/>
          </a:bodyPr>
          <a:lstStyle/>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Microservices-based architecture for an online quiz platform.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Independent </a:t>
            </a:r>
            <a:r>
              <a:rPr lang="en-IN" b="1" dirty="0">
                <a:latin typeface="Times New Roman" panose="02020603050405020304" pitchFamily="18" charset="0"/>
                <a:cs typeface="Times New Roman" panose="02020603050405020304" pitchFamily="18" charset="0"/>
              </a:rPr>
              <a:t>User, Quiz, Question, and Result Services</a:t>
            </a:r>
            <a:r>
              <a:rPr lang="en-IN" dirty="0">
                <a:latin typeface="Times New Roman" panose="02020603050405020304" pitchFamily="18" charset="0"/>
                <a:cs typeface="Times New Roman" panose="02020603050405020304" pitchFamily="18" charset="0"/>
              </a:rPr>
              <a:t>.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JWT-based authentication and role-based authorization.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Eureka-based service discovery.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Spring Cloud Gateway for centralized API routing.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Database-per-service approach.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Automated testing and CI/CD integration. </a:t>
            </a:r>
          </a:p>
          <a:p>
            <a:pPr marL="342900" lvl="0" indent="-34290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Security analysis using </a:t>
            </a:r>
            <a:r>
              <a:rPr lang="en-IN" dirty="0" err="1">
                <a:latin typeface="Times New Roman" panose="02020603050405020304" pitchFamily="18" charset="0"/>
                <a:cs typeface="Times New Roman" panose="02020603050405020304" pitchFamily="18" charset="0"/>
              </a:rPr>
              <a:t>Semgrep</a:t>
            </a:r>
            <a:r>
              <a:rPr lang="en-IN"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5241353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AA2CC-2C9A-D968-2F38-FFC4A7D238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EF7CE10-08D9-83CF-7508-12575531E1E0}"/>
              </a:ext>
            </a:extLst>
          </p:cNvPr>
          <p:cNvSpPr txBox="1"/>
          <p:nvPr/>
        </p:nvSpPr>
        <p:spPr>
          <a:xfrm>
            <a:off x="2615380" y="551058"/>
            <a:ext cx="7234014" cy="707886"/>
          </a:xfrm>
          <a:prstGeom prst="rect">
            <a:avLst/>
          </a:prstGeom>
          <a:noFill/>
        </p:spPr>
        <p:txBody>
          <a:bodyPr wrap="square">
            <a:spAutoFit/>
          </a:bodyPr>
          <a:lstStyle/>
          <a:p>
            <a:pPr algn="ctr"/>
            <a:r>
              <a:rPr lang="en-US" sz="4000" b="1" dirty="0"/>
              <a:t>Feasibility and Project Plan</a:t>
            </a:r>
          </a:p>
        </p:txBody>
      </p:sp>
      <p:pic>
        <p:nvPicPr>
          <p:cNvPr id="4" name="Picture 3">
            <a:extLst>
              <a:ext uri="{FF2B5EF4-FFF2-40B4-BE49-F238E27FC236}">
                <a16:creationId xmlns:a16="http://schemas.microsoft.com/office/drawing/2014/main" id="{F971D25F-D310-56FA-A58E-B7B79C7D857D}"/>
              </a:ext>
            </a:extLst>
          </p:cNvPr>
          <p:cNvPicPr>
            <a:picLocks noChangeAspect="1"/>
          </p:cNvPicPr>
          <p:nvPr/>
        </p:nvPicPr>
        <p:blipFill>
          <a:blip r:embed="rId2"/>
          <a:stretch>
            <a:fillRect/>
          </a:stretch>
        </p:blipFill>
        <p:spPr>
          <a:xfrm>
            <a:off x="10249380" y="0"/>
            <a:ext cx="1942620" cy="622550"/>
          </a:xfrm>
          <a:prstGeom prst="rect">
            <a:avLst/>
          </a:prstGeom>
        </p:spPr>
      </p:pic>
      <p:sp>
        <p:nvSpPr>
          <p:cNvPr id="6" name="TextBox 5">
            <a:extLst>
              <a:ext uri="{FF2B5EF4-FFF2-40B4-BE49-F238E27FC236}">
                <a16:creationId xmlns:a16="http://schemas.microsoft.com/office/drawing/2014/main" id="{6CB9FCE6-0B38-A435-EA28-0F06BA5B56F7}"/>
              </a:ext>
            </a:extLst>
          </p:cNvPr>
          <p:cNvSpPr txBox="1"/>
          <p:nvPr/>
        </p:nvSpPr>
        <p:spPr>
          <a:xfrm>
            <a:off x="1490133" y="1363133"/>
            <a:ext cx="7653867" cy="2585323"/>
          </a:xfrm>
          <a:prstGeom prst="rect">
            <a:avLst/>
          </a:prstGeom>
          <a:noFill/>
        </p:spPr>
        <p:txBody>
          <a:bodyPr wrap="square">
            <a:spAutoFit/>
          </a:bodyPr>
          <a:lstStyle/>
          <a:p>
            <a:pPr>
              <a:buNone/>
            </a:pPr>
            <a:r>
              <a:rPr lang="en-IN" b="1" dirty="0"/>
              <a:t>Technical Feasibility</a:t>
            </a:r>
          </a:p>
          <a:p>
            <a:pPr marL="342900" lvl="0" indent="-342900">
              <a:buFont typeface="Arial" panose="020B0604020202020204" pitchFamily="34" charset="0"/>
              <a:buChar char="•"/>
            </a:pPr>
            <a:r>
              <a:rPr lang="en-IN" b="1" dirty="0"/>
              <a:t>Backend:</a:t>
            </a:r>
            <a:r>
              <a:rPr lang="en-IN" dirty="0"/>
              <a:t> Spring Boot</a:t>
            </a:r>
          </a:p>
          <a:p>
            <a:pPr marL="342900" lvl="0" indent="-342900">
              <a:buFont typeface="Arial" panose="020B0604020202020204" pitchFamily="34" charset="0"/>
              <a:buChar char="•"/>
            </a:pPr>
            <a:r>
              <a:rPr lang="en-IN" b="1" dirty="0"/>
              <a:t>Architecture:</a:t>
            </a:r>
            <a:r>
              <a:rPr lang="en-IN" dirty="0"/>
              <a:t> Microservices </a:t>
            </a:r>
          </a:p>
          <a:p>
            <a:pPr marL="342900" lvl="0" indent="-342900">
              <a:buFont typeface="Arial" panose="020B0604020202020204" pitchFamily="34" charset="0"/>
              <a:buChar char="•"/>
            </a:pPr>
            <a:r>
              <a:rPr lang="en-IN" b="1" dirty="0"/>
              <a:t>Service Discovery:</a:t>
            </a:r>
            <a:r>
              <a:rPr lang="en-IN" dirty="0"/>
              <a:t> Eureka Server </a:t>
            </a:r>
          </a:p>
          <a:p>
            <a:pPr marL="342900" lvl="0" indent="-342900">
              <a:buFont typeface="Arial" panose="020B0604020202020204" pitchFamily="34" charset="0"/>
              <a:buChar char="•"/>
            </a:pPr>
            <a:r>
              <a:rPr lang="en-IN" b="1" dirty="0"/>
              <a:t>API Routing:</a:t>
            </a:r>
            <a:r>
              <a:rPr lang="en-IN" dirty="0"/>
              <a:t> Spring Cloud Gateway </a:t>
            </a:r>
          </a:p>
          <a:p>
            <a:pPr marL="342900" lvl="0" indent="-342900">
              <a:buFont typeface="Arial" panose="020B0604020202020204" pitchFamily="34" charset="0"/>
              <a:buChar char="•"/>
            </a:pPr>
            <a:r>
              <a:rPr lang="en-IN" b="1" dirty="0"/>
              <a:t>Database:</a:t>
            </a:r>
            <a:r>
              <a:rPr lang="en-IN" dirty="0"/>
              <a:t> MySQL </a:t>
            </a:r>
          </a:p>
          <a:p>
            <a:pPr marL="342900" lvl="0" indent="-342900">
              <a:buFont typeface="Arial" panose="020B0604020202020204" pitchFamily="34" charset="0"/>
              <a:buChar char="•"/>
            </a:pPr>
            <a:r>
              <a:rPr lang="en-IN" b="1" dirty="0"/>
              <a:t>Security:</a:t>
            </a:r>
            <a:r>
              <a:rPr lang="en-IN" dirty="0"/>
              <a:t> JWT Authentication </a:t>
            </a:r>
          </a:p>
          <a:p>
            <a:pPr marL="342900" lvl="0" indent="-342900">
              <a:buFont typeface="Arial" panose="020B0604020202020204" pitchFamily="34" charset="0"/>
              <a:buChar char="•"/>
            </a:pPr>
            <a:r>
              <a:rPr lang="en-IN" b="1" dirty="0"/>
              <a:t>Testing:</a:t>
            </a:r>
            <a:r>
              <a:rPr lang="en-IN" dirty="0"/>
              <a:t> Postman + Unit Testing </a:t>
            </a:r>
          </a:p>
          <a:p>
            <a:pPr marL="342900" lvl="0" indent="-342900">
              <a:buFont typeface="Arial" panose="020B0604020202020204" pitchFamily="34" charset="0"/>
              <a:buChar char="•"/>
            </a:pPr>
            <a:r>
              <a:rPr lang="en-IN" b="1" dirty="0"/>
              <a:t>CI/CD:</a:t>
            </a:r>
            <a:r>
              <a:rPr lang="en-IN" dirty="0"/>
              <a:t> GitHub Actions</a:t>
            </a:r>
          </a:p>
        </p:txBody>
      </p:sp>
    </p:spTree>
    <p:extLst>
      <p:ext uri="{BB962C8B-B14F-4D97-AF65-F5344CB8AC3E}">
        <p14:creationId xmlns:p14="http://schemas.microsoft.com/office/powerpoint/2010/main" val="41188552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97E1F28-0206-1D89-FBFC-6F1C0274C0B9}"/>
              </a:ext>
            </a:extLst>
          </p:cNvPr>
          <p:cNvGraphicFramePr>
            <a:graphicFrameLocks noGrp="1"/>
          </p:cNvGraphicFramePr>
          <p:nvPr>
            <p:extLst>
              <p:ext uri="{D42A27DB-BD31-4B8C-83A1-F6EECF244321}">
                <p14:modId xmlns:p14="http://schemas.microsoft.com/office/powerpoint/2010/main" val="2582329218"/>
              </p:ext>
            </p:extLst>
          </p:nvPr>
        </p:nvGraphicFramePr>
        <p:xfrm>
          <a:off x="677333" y="1694974"/>
          <a:ext cx="10515600" cy="329184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1781409942"/>
                    </a:ext>
                  </a:extLst>
                </a:gridCol>
                <a:gridCol w="5257800">
                  <a:extLst>
                    <a:ext uri="{9D8B030D-6E8A-4147-A177-3AD203B41FA5}">
                      <a16:colId xmlns:a16="http://schemas.microsoft.com/office/drawing/2014/main" val="1168067556"/>
                    </a:ext>
                  </a:extLst>
                </a:gridCol>
              </a:tblGrid>
              <a:tr h="0">
                <a:tc>
                  <a:txBody>
                    <a:bodyPr/>
                    <a:lstStyle/>
                    <a:p>
                      <a:pPr>
                        <a:buNone/>
                      </a:pPr>
                      <a:r>
                        <a:rPr lang="en-IN"/>
                        <a:t>Phase</a:t>
                      </a:r>
                    </a:p>
                  </a:txBody>
                  <a:tcPr anchor="ctr"/>
                </a:tc>
                <a:tc>
                  <a:txBody>
                    <a:bodyPr/>
                    <a:lstStyle/>
                    <a:p>
                      <a:pPr>
                        <a:buNone/>
                      </a:pPr>
                      <a:r>
                        <a:rPr lang="en-IN"/>
                        <a:t>Work</a:t>
                      </a:r>
                    </a:p>
                  </a:txBody>
                  <a:tcPr anchor="ctr"/>
                </a:tc>
                <a:extLst>
                  <a:ext uri="{0D108BD9-81ED-4DB2-BD59-A6C34878D82A}">
                    <a16:rowId xmlns:a16="http://schemas.microsoft.com/office/drawing/2014/main" val="3646740327"/>
                  </a:ext>
                </a:extLst>
              </a:tr>
              <a:tr h="0">
                <a:tc>
                  <a:txBody>
                    <a:bodyPr/>
                    <a:lstStyle/>
                    <a:p>
                      <a:pPr>
                        <a:buNone/>
                      </a:pPr>
                      <a:r>
                        <a:rPr lang="en-IN"/>
                        <a:t>Phase 1</a:t>
                      </a:r>
                    </a:p>
                  </a:txBody>
                  <a:tcPr anchor="ctr"/>
                </a:tc>
                <a:tc>
                  <a:txBody>
                    <a:bodyPr/>
                    <a:lstStyle/>
                    <a:p>
                      <a:pPr>
                        <a:buNone/>
                      </a:pPr>
                      <a:r>
                        <a:rPr lang="en-IN"/>
                        <a:t>Requirement Analysis &amp; Problem Definition</a:t>
                      </a:r>
                    </a:p>
                  </a:txBody>
                  <a:tcPr anchor="ctr"/>
                </a:tc>
                <a:extLst>
                  <a:ext uri="{0D108BD9-81ED-4DB2-BD59-A6C34878D82A}">
                    <a16:rowId xmlns:a16="http://schemas.microsoft.com/office/drawing/2014/main" val="2500643681"/>
                  </a:ext>
                </a:extLst>
              </a:tr>
              <a:tr h="0">
                <a:tc>
                  <a:txBody>
                    <a:bodyPr/>
                    <a:lstStyle/>
                    <a:p>
                      <a:pPr>
                        <a:buNone/>
                      </a:pPr>
                      <a:r>
                        <a:rPr lang="en-IN"/>
                        <a:t>Phase 2</a:t>
                      </a:r>
                    </a:p>
                  </a:txBody>
                  <a:tcPr anchor="ctr"/>
                </a:tc>
                <a:tc>
                  <a:txBody>
                    <a:bodyPr/>
                    <a:lstStyle/>
                    <a:p>
                      <a:pPr>
                        <a:buNone/>
                      </a:pPr>
                      <a:r>
                        <a:rPr lang="en-IN"/>
                        <a:t>Literature Survey &amp; Research Gap</a:t>
                      </a:r>
                    </a:p>
                  </a:txBody>
                  <a:tcPr anchor="ctr"/>
                </a:tc>
                <a:extLst>
                  <a:ext uri="{0D108BD9-81ED-4DB2-BD59-A6C34878D82A}">
                    <a16:rowId xmlns:a16="http://schemas.microsoft.com/office/drawing/2014/main" val="768901177"/>
                  </a:ext>
                </a:extLst>
              </a:tr>
              <a:tr h="0">
                <a:tc>
                  <a:txBody>
                    <a:bodyPr/>
                    <a:lstStyle/>
                    <a:p>
                      <a:pPr>
                        <a:buNone/>
                      </a:pPr>
                      <a:r>
                        <a:rPr lang="en-IN"/>
                        <a:t>Phase 3</a:t>
                      </a:r>
                    </a:p>
                  </a:txBody>
                  <a:tcPr anchor="ctr"/>
                </a:tc>
                <a:tc>
                  <a:txBody>
                    <a:bodyPr/>
                    <a:lstStyle/>
                    <a:p>
                      <a:pPr>
                        <a:buNone/>
                      </a:pPr>
                      <a:r>
                        <a:rPr lang="en-IN"/>
                        <a:t>Architecture &amp; Database Design</a:t>
                      </a:r>
                    </a:p>
                  </a:txBody>
                  <a:tcPr anchor="ctr"/>
                </a:tc>
                <a:extLst>
                  <a:ext uri="{0D108BD9-81ED-4DB2-BD59-A6C34878D82A}">
                    <a16:rowId xmlns:a16="http://schemas.microsoft.com/office/drawing/2014/main" val="3450645867"/>
                  </a:ext>
                </a:extLst>
              </a:tr>
              <a:tr h="0">
                <a:tc>
                  <a:txBody>
                    <a:bodyPr/>
                    <a:lstStyle/>
                    <a:p>
                      <a:pPr>
                        <a:buNone/>
                      </a:pPr>
                      <a:r>
                        <a:rPr lang="en-IN"/>
                        <a:t>Phase 4</a:t>
                      </a:r>
                    </a:p>
                  </a:txBody>
                  <a:tcPr anchor="ctr"/>
                </a:tc>
                <a:tc>
                  <a:txBody>
                    <a:bodyPr/>
                    <a:lstStyle/>
                    <a:p>
                      <a:pPr>
                        <a:buNone/>
                      </a:pPr>
                      <a:r>
                        <a:rPr lang="en-IN"/>
                        <a:t>Microservices Development</a:t>
                      </a:r>
                    </a:p>
                  </a:txBody>
                  <a:tcPr anchor="ctr"/>
                </a:tc>
                <a:extLst>
                  <a:ext uri="{0D108BD9-81ED-4DB2-BD59-A6C34878D82A}">
                    <a16:rowId xmlns:a16="http://schemas.microsoft.com/office/drawing/2014/main" val="1979254705"/>
                  </a:ext>
                </a:extLst>
              </a:tr>
              <a:tr h="0">
                <a:tc>
                  <a:txBody>
                    <a:bodyPr/>
                    <a:lstStyle/>
                    <a:p>
                      <a:pPr>
                        <a:buNone/>
                      </a:pPr>
                      <a:r>
                        <a:rPr lang="en-IN"/>
                        <a:t>Phase 5</a:t>
                      </a:r>
                    </a:p>
                  </a:txBody>
                  <a:tcPr anchor="ctr"/>
                </a:tc>
                <a:tc>
                  <a:txBody>
                    <a:bodyPr/>
                    <a:lstStyle/>
                    <a:p>
                      <a:pPr>
                        <a:buNone/>
                      </a:pPr>
                      <a:r>
                        <a:rPr lang="en-IN"/>
                        <a:t>API Integration &amp; Authentication</a:t>
                      </a:r>
                    </a:p>
                  </a:txBody>
                  <a:tcPr anchor="ctr"/>
                </a:tc>
                <a:extLst>
                  <a:ext uri="{0D108BD9-81ED-4DB2-BD59-A6C34878D82A}">
                    <a16:rowId xmlns:a16="http://schemas.microsoft.com/office/drawing/2014/main" val="4273949959"/>
                  </a:ext>
                </a:extLst>
              </a:tr>
              <a:tr h="0">
                <a:tc>
                  <a:txBody>
                    <a:bodyPr/>
                    <a:lstStyle/>
                    <a:p>
                      <a:pPr>
                        <a:buNone/>
                      </a:pPr>
                      <a:r>
                        <a:rPr lang="en-IN"/>
                        <a:t>Phase 6</a:t>
                      </a:r>
                    </a:p>
                  </a:txBody>
                  <a:tcPr anchor="ctr"/>
                </a:tc>
                <a:tc>
                  <a:txBody>
                    <a:bodyPr/>
                    <a:lstStyle/>
                    <a:p>
                      <a:pPr>
                        <a:buNone/>
                      </a:pPr>
                      <a:r>
                        <a:rPr lang="en-IN"/>
                        <a:t>Testing &amp; Security Analysis</a:t>
                      </a:r>
                    </a:p>
                  </a:txBody>
                  <a:tcPr anchor="ctr"/>
                </a:tc>
                <a:extLst>
                  <a:ext uri="{0D108BD9-81ED-4DB2-BD59-A6C34878D82A}">
                    <a16:rowId xmlns:a16="http://schemas.microsoft.com/office/drawing/2014/main" val="2807412691"/>
                  </a:ext>
                </a:extLst>
              </a:tr>
              <a:tr h="0">
                <a:tc>
                  <a:txBody>
                    <a:bodyPr/>
                    <a:lstStyle/>
                    <a:p>
                      <a:pPr>
                        <a:buNone/>
                      </a:pPr>
                      <a:r>
                        <a:rPr lang="en-IN"/>
                        <a:t>Phase 7</a:t>
                      </a:r>
                    </a:p>
                  </a:txBody>
                  <a:tcPr anchor="ctr"/>
                </a:tc>
                <a:tc>
                  <a:txBody>
                    <a:bodyPr/>
                    <a:lstStyle/>
                    <a:p>
                      <a:pPr>
                        <a:buNone/>
                      </a:pPr>
                      <a:r>
                        <a:rPr lang="en-IN"/>
                        <a:t>CI/CD &amp; Final Integration</a:t>
                      </a:r>
                    </a:p>
                  </a:txBody>
                  <a:tcPr anchor="ctr"/>
                </a:tc>
                <a:extLst>
                  <a:ext uri="{0D108BD9-81ED-4DB2-BD59-A6C34878D82A}">
                    <a16:rowId xmlns:a16="http://schemas.microsoft.com/office/drawing/2014/main" val="506903810"/>
                  </a:ext>
                </a:extLst>
              </a:tr>
              <a:tr h="0">
                <a:tc>
                  <a:txBody>
                    <a:bodyPr/>
                    <a:lstStyle/>
                    <a:p>
                      <a:pPr>
                        <a:buNone/>
                      </a:pPr>
                      <a:r>
                        <a:rPr lang="en-IN"/>
                        <a:t>Phase 8</a:t>
                      </a:r>
                    </a:p>
                  </a:txBody>
                  <a:tcPr anchor="ctr"/>
                </a:tc>
                <a:tc>
                  <a:txBody>
                    <a:bodyPr/>
                    <a:lstStyle/>
                    <a:p>
                      <a:pPr>
                        <a:buNone/>
                      </a:pPr>
                      <a:r>
                        <a:rPr lang="en-IN" dirty="0"/>
                        <a:t>Documentation &amp; Final Presentation</a:t>
                      </a:r>
                    </a:p>
                  </a:txBody>
                  <a:tcPr anchor="ctr"/>
                </a:tc>
                <a:extLst>
                  <a:ext uri="{0D108BD9-81ED-4DB2-BD59-A6C34878D82A}">
                    <a16:rowId xmlns:a16="http://schemas.microsoft.com/office/drawing/2014/main" val="1735498405"/>
                  </a:ext>
                </a:extLst>
              </a:tr>
            </a:tbl>
          </a:graphicData>
        </a:graphic>
      </p:graphicFrame>
    </p:spTree>
    <p:extLst>
      <p:ext uri="{BB962C8B-B14F-4D97-AF65-F5344CB8AC3E}">
        <p14:creationId xmlns:p14="http://schemas.microsoft.com/office/powerpoint/2010/main" val="16307580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121</TotalTime>
  <Words>649</Words>
  <Application>Microsoft Office PowerPoint</Application>
  <PresentationFormat>Widescreen</PresentationFormat>
  <Paragraphs>122</Paragraphs>
  <Slides>9</Slides>
  <Notes>2</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9</vt:i4>
      </vt:variant>
    </vt:vector>
  </HeadingPairs>
  <TitlesOfParts>
    <vt:vector size="17" baseType="lpstr">
      <vt:lpstr>Aptos</vt:lpstr>
      <vt:lpstr>Aptos Display</vt:lpstr>
      <vt:lpstr>Arial</vt:lpstr>
      <vt:lpstr>Calibri</vt:lpstr>
      <vt:lpstr>Calibri Light</vt:lpstr>
      <vt:lpstr>Times New Roman</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srikanth ch</dc:creator>
  <cp:lastModifiedBy>Roopesh Chalasani</cp:lastModifiedBy>
  <cp:revision>36</cp:revision>
  <dcterms:created xsi:type="dcterms:W3CDTF">2026-08-08T06:33:56Z</dcterms:created>
  <dcterms:modified xsi:type="dcterms:W3CDTF">2026-08-27T08:48:53Z</dcterms:modified>
</cp:coreProperties>
</file>